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592000" y="-1700000"/>
            <a:ext cx="4800000" cy="4800000"/>
          </a:xfrm>
          <a:prstGeom prst="ellipse">
            <a:avLst/>
          </a:prstGeom>
          <a:solidFill>
            <a:srgbClr val="0E7490">
              <a:alpha val="120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800000" y="4458000"/>
            <a:ext cx="4200000" cy="4200000"/>
          </a:xfrm>
          <a:prstGeom prst="ellipse">
            <a:avLst/>
          </a:prstGeom>
          <a:solidFill>
            <a:srgbClr val="C2410C">
              <a:alpha val="80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38200" y="2050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INSIDER THREAT DETECTION  ·  UEBA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2400000"/>
            <a:ext cx="10515600" cy="12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7200" b="1" i="0" dirty="0">
                <a:solidFill>
                  <a:srgbClr val="241C14"/>
                </a:solidFill>
                <a:latin typeface="Inter"/>
                <a:cs typeface="Inter"/>
              </a:rPr>
              <a:t>Sentinel</a:t>
            </a:r>
          </a:p>
        </p:txBody>
      </p:sp>
      <p:sp>
        <p:nvSpPr>
          <p:cNvPr id="6" name="Shape 6"/>
          <p:cNvSpPr/>
          <p:nvPr/>
        </p:nvSpPr>
        <p:spPr>
          <a:xfrm>
            <a:off x="838200" y="3660000"/>
            <a:ext cx="900000" cy="34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8200" y="3860000"/>
            <a:ext cx="8700000" cy="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lang="en-US" sz="1500" b="0" i="0" dirty="0">
                <a:solidFill>
                  <a:srgbClr val="6A5B49"/>
                </a:solidFill>
                <a:latin typeface="Inter"/>
                <a:cs typeface="Inter"/>
              </a:rPr>
              <a:t>A user-behaviour analytics command center that detects insider threats — people deviating from their own baseline or from their peer group, not malware.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4620000"/>
            <a:ext cx="10515600" cy="4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150" b="0" i="0" dirty="0">
                <a:solidFill>
                  <a:srgbClr val="7C6A4E"/>
                </a:solidFill>
                <a:latin typeface="Inter"/>
                <a:cs typeface="Inter"/>
              </a:rPr>
              <a:t>React 19  ·  Vite  ·  FastAPI  ·  PostgreSQL  ·  scikit-learn  ·  Tailwind v4  ·  Recharts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5280000"/>
            <a:ext cx="2478900" cy="62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900" b="1" i="0" dirty="0">
                <a:solidFill>
                  <a:srgbClr val="0E7490"/>
                </a:solidFill>
                <a:latin typeface="Inter"/>
                <a:cs typeface="Inter"/>
              </a:rPr>
              <a:t>8</a:t>
            </a:r>
            <a:r>
              <a:rPr lang="en-US" sz="1100" b="0" i="0" dirty="0">
                <a:solidFill>
                  <a:srgbClr val="6A5B49"/>
                </a:solidFill>
                <a:latin typeface="Inter"/>
                <a:cs typeface="Inter"/>
              </a:rPr>
              <a:t>   anomaly classes</a:t>
            </a:r>
          </a:p>
        </p:txBody>
      </p:sp>
      <p:sp>
        <p:nvSpPr>
          <p:cNvPr id="21" name="Shape 21"/>
          <p:cNvSpPr/>
          <p:nvPr/>
        </p:nvSpPr>
        <p:spPr>
          <a:xfrm>
            <a:off x="3517100" y="5280000"/>
            <a:ext cx="2478900" cy="62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900" b="1" i="0" dirty="0">
                <a:solidFill>
                  <a:srgbClr val="0E7490"/>
                </a:solidFill>
                <a:latin typeface="Inter"/>
                <a:cs typeface="Inter"/>
              </a:rPr>
              <a:t>6</a:t>
            </a:r>
            <a:r>
              <a:rPr lang="en-US" sz="1100" b="0" i="0" dirty="0">
                <a:solidFill>
                  <a:srgbClr val="6A5B49"/>
                </a:solidFill>
                <a:latin typeface="Inter"/>
                <a:cs typeface="Inter"/>
              </a:rPr>
              <a:t>   analyst views</a:t>
            </a:r>
          </a:p>
        </p:txBody>
      </p:sp>
      <p:sp>
        <p:nvSpPr>
          <p:cNvPr id="22" name="Shape 22"/>
          <p:cNvSpPr/>
          <p:nvPr/>
        </p:nvSpPr>
        <p:spPr>
          <a:xfrm>
            <a:off x="6196000" y="5280000"/>
            <a:ext cx="2478900" cy="62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900" b="1" i="0" dirty="0">
                <a:solidFill>
                  <a:srgbClr val="0E7490"/>
                </a:solidFill>
                <a:latin typeface="Inter"/>
                <a:cs typeface="Inter"/>
              </a:rPr>
              <a:t>23</a:t>
            </a:r>
            <a:r>
              <a:rPr lang="en-US" sz="1100" b="0" i="0" dirty="0">
                <a:solidFill>
                  <a:srgbClr val="6A5B49"/>
                </a:solidFill>
                <a:latin typeface="Inter"/>
                <a:cs typeface="Inter"/>
              </a:rPr>
              <a:t>   model features</a:t>
            </a:r>
          </a:p>
        </p:txBody>
      </p:sp>
      <p:sp>
        <p:nvSpPr>
          <p:cNvPr id="23" name="Shape 23"/>
          <p:cNvSpPr/>
          <p:nvPr/>
        </p:nvSpPr>
        <p:spPr>
          <a:xfrm>
            <a:off x="8874900" y="5280000"/>
            <a:ext cx="2478900" cy="62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900" b="1" i="0" dirty="0">
                <a:solidFill>
                  <a:srgbClr val="0E7490"/>
                </a:solidFill>
                <a:latin typeface="Inter"/>
                <a:cs typeface="Inter"/>
              </a:rPr>
              <a:t>≈40</a:t>
            </a:r>
            <a:r>
              <a:rPr lang="en-US" sz="1100" b="0" i="0" dirty="0">
                <a:solidFill>
                  <a:srgbClr val="6A5B49"/>
                </a:solidFill>
                <a:latin typeface="Inter"/>
                <a:cs typeface="Inter"/>
              </a:rPr>
              <a:t>   REST endpoints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3800" y="43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400" b="1" i="0" dirty="0">
                <a:solidFill>
                  <a:srgbClr val="EBDFC8"/>
                </a:solidFill>
                <a:latin typeface="Inter"/>
                <a:cs typeface="Inter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4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THE PRODUCT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0000"/>
            <a:ext cx="10515600" cy="6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41C14"/>
                </a:solidFill>
                <a:latin typeface="Inter"/>
                <a:cs typeface="Inter"/>
              </a:rPr>
              <a:t>What Sentinel Is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1620000"/>
            <a:ext cx="62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38200" y="6218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Sentinel  ·  Insider Threat Detection (UEBA)  ·  all data synthetic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3800" y="6218000"/>
            <a:ext cx="9000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2 / 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8200" y="1860000"/>
            <a:ext cx="10515600" cy="4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lang="en-US" sz="1400" b="0" i="0" dirty="0">
                <a:solidFill>
                  <a:srgbClr val="6A5B49"/>
                </a:solidFill>
                <a:latin typeface="Inter"/>
                <a:cs typeface="Inter"/>
              </a:rPr>
              <a:t>Behaviour-based security analytics: Sentinel watches what accounts </a:t>
            </a:r>
            <a:r>
              <a:rPr lang="en-US" sz="1400" b="1" i="0" dirty="0">
                <a:solidFill>
                  <a:srgbClr val="241C14"/>
                </a:solidFill>
                <a:latin typeface="Inter"/>
                <a:cs typeface="Inter"/>
              </a:rPr>
              <a:t>do</a:t>
            </a:r>
            <a:r>
              <a:rPr lang="en-US" sz="1400" b="0" i="0" dirty="0">
                <a:solidFill>
                  <a:srgbClr val="6A5B49"/>
                </a:solidFill>
                <a:latin typeface="Inter"/>
                <a:cs typeface="Inter"/>
              </a:rPr>
              <a:t> — not what malware does. Every alert resolves to a person whose activity has shifted away from their own baseline or away from their peer group.</a:t>
            </a:r>
          </a:p>
        </p:txBody>
      </p:sp>
      <p:sp>
        <p:nvSpPr>
          <p:cNvPr id="21" name="Shape 21"/>
          <p:cNvSpPr/>
          <p:nvPr/>
        </p:nvSpPr>
        <p:spPr>
          <a:xfrm>
            <a:off x="838200" y="2620000"/>
            <a:ext cx="3380000" cy="1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6 ANALYST VIEWS</a:t>
            </a:r>
          </a:p>
          <a:p>
            <a:pPr algn="l">
              <a:spcBef>
                <a:spcPts val="500"/>
              </a:spcBef>
            </a:pP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Command Center, Anomaly Queue, User Behaviour, Activity Timeline, Model Insights, Detection Policies — one sidebar, four nav groups.</a:t>
            </a:r>
          </a:p>
        </p:txBody>
      </p:sp>
      <p:sp>
        <p:nvSpPr>
          <p:cNvPr id="22" name="Shape 22"/>
          <p:cNvSpPr/>
          <p:nvPr/>
        </p:nvSpPr>
        <p:spPr>
          <a:xfrm>
            <a:off x="4378200" y="2620000"/>
            <a:ext cx="3380000" cy="1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6A5B49"/>
                </a:solidFill>
                <a:latin typeface="Inter"/>
                <a:cs typeface="Inter"/>
              </a:rPr>
              <a:t>INVESTIGATION SURFACE</a:t>
            </a:r>
          </a:p>
          <a:p>
            <a:pPr algn="l">
              <a:spcBef>
                <a:spcPts val="500"/>
              </a:spcBef>
            </a:pP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Two cross-linked drawers: alert detail (narrative, contributing factors, containment) and employee peer-comparison.</a:t>
            </a:r>
          </a:p>
        </p:txBody>
      </p:sp>
      <p:sp>
        <p:nvSpPr>
          <p:cNvPr id="23" name="Shape 23"/>
          <p:cNvSpPr/>
          <p:nvPr/>
        </p:nvSpPr>
        <p:spPr>
          <a:xfrm>
            <a:off x="7918200" y="2620000"/>
            <a:ext cx="3380000" cy="1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6A5B49"/>
                </a:solidFill>
                <a:latin typeface="Inter"/>
                <a:cs typeface="Inter"/>
              </a:rPr>
              <a:t>HONEST SCOPE</a:t>
            </a:r>
          </a:p>
          <a:p>
            <a:pPr algn="l">
              <a:spcBef>
                <a:spcPts val="500"/>
              </a:spcBef>
            </a:pP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All identities, events and detections are deterministic synthetic data. No real security telemetry, no production guarantees.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8200" y="4360000"/>
            <a:ext cx="10515600" cy="3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i="0" dirty="0">
                <a:solidFill>
                  <a:srgbClr val="7C6A4E"/>
                </a:solidFill>
                <a:latin typeface="Inter"/>
                <a:cs typeface="Inter"/>
              </a:rPr>
              <a:t>THE EIGHT ANOMALY CLASSES</a:t>
            </a:r>
          </a:p>
        </p:txBody>
      </p:sp>
      <p:sp>
        <p:nvSpPr>
          <p:cNvPr id="25" name="Shape 25"/>
          <p:cNvSpPr/>
          <p:nvPr/>
        </p:nvSpPr>
        <p:spPr>
          <a:xfrm>
            <a:off x="838200" y="4720000"/>
            <a:ext cx="10515600" cy="124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80000" tIns="90000" rIns="180000" bIns="90000">
            <a:normAutofit/>
          </a:bodyPr>
          <a:lstStyle/>
          <a:p>
            <a:pPr algn="l"/>
            <a:r>
              <a:rPr lang="en-US" sz="1200" b="1" i="0" dirty="0">
                <a:solidFill>
                  <a:srgbClr val="BE123C"/>
                </a:solidFill>
                <a:latin typeface="Inter"/>
                <a:cs typeface="Inter"/>
              </a:rPr>
              <a:t>Off-hours access</a:t>
            </a:r>
            <a:r>
              <a:rPr lang="en-US" sz="1200" b="1" i="0" dirty="0">
                <a:solidFill>
                  <a:srgbClr val="8A5406"/>
                </a:solidFill>
                <a:latin typeface="Inter"/>
                <a:cs typeface="Inter"/>
              </a:rPr>
              <a:t>      Lateral movement</a:t>
            </a:r>
            <a:r>
              <a:rPr lang="en-US" sz="1200" b="1" i="0" dirty="0">
                <a:solidFill>
                  <a:srgbClr val="166534"/>
                </a:solidFill>
                <a:latin typeface="Inter"/>
                <a:cs typeface="Inter"/>
              </a:rPr>
              <a:t>      Peer deviation</a:t>
            </a:r>
            <a:r>
              <a:rPr lang="en-US" sz="1200" b="1" i="0" dirty="0">
                <a:solidFill>
                  <a:srgbClr val="BE123C"/>
                </a:solidFill>
                <a:latin typeface="Inter"/>
                <a:cs typeface="Inter"/>
              </a:rPr>
              <a:t>      Privilege escalation</a:t>
            </a:r>
          </a:p>
          <a:p>
            <a:pPr algn="l">
              <a:spcBef>
                <a:spcPts val="650"/>
              </a:spcBef>
            </a:pPr>
            <a:r>
              <a:rPr lang="en-US" sz="1200" b="1" i="0" dirty="0">
                <a:solidFill>
                  <a:srgbClr val="8A5406"/>
                </a:solidFill>
                <a:latin typeface="Inter"/>
                <a:cs typeface="Inter"/>
              </a:rPr>
              <a:t>Impossible travel</a:t>
            </a:r>
            <a:r>
              <a:rPr lang="en-US" sz="1200" b="1" i="0" dirty="0">
                <a:solidFill>
                  <a:srgbClr val="166534"/>
                </a:solidFill>
                <a:latin typeface="Inter"/>
                <a:cs typeface="Inter"/>
              </a:rPr>
              <a:t>      Dormant-account revival</a:t>
            </a:r>
            <a:r>
              <a:rPr lang="en-US" sz="1200" b="1" i="0" dirty="0">
                <a:solidFill>
                  <a:srgbClr val="BE123C"/>
                </a:solidFill>
                <a:latin typeface="Inter"/>
                <a:cs typeface="Inter"/>
              </a:rPr>
              <a:t>      Resource sweeping</a:t>
            </a:r>
            <a:r>
              <a:rPr lang="en-US" sz="1200" b="1" i="0" dirty="0">
                <a:solidFill>
                  <a:srgbClr val="8A5406"/>
                </a:solidFill>
                <a:latin typeface="Inter"/>
                <a:cs typeface="Inter"/>
              </a:rPr>
              <a:t>      Session anomaly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3800" y="43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400" b="1" i="0" dirty="0">
                <a:solidFill>
                  <a:srgbClr val="EBDFC8"/>
                </a:solidFill>
                <a:latin typeface="Inter"/>
                <a:cs typeface="Inter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4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HOW IT FITS TOGETHER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0000"/>
            <a:ext cx="10515600" cy="6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41C14"/>
                </a:solidFill>
                <a:latin typeface="Inter"/>
                <a:cs typeface="Inter"/>
              </a:rPr>
              <a:t>Architecture: Two Halves, One Seam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1620000"/>
            <a:ext cx="62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38200" y="6218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Sentinel  ·  Insider Threat Detection (UEBA)  ·  all data synthetic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3800" y="6218000"/>
            <a:ext cx="9000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3 / 8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980000"/>
            <a:ext cx="3380000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FRONTEND</a:t>
            </a:r>
          </a:p>
          <a:p>
            <a:pPr algn="l">
              <a:spcBef>
                <a:spcPts val="350"/>
              </a:spcBef>
            </a:pPr>
            <a:r>
              <a:rPr lang="en-US" sz="1350" b="1" i="0" dirty="0">
                <a:solidFill>
                  <a:srgbClr val="241C14"/>
                </a:solidFill>
                <a:latin typeface="Inter"/>
                <a:cs typeface="Inter"/>
              </a:rPr>
              <a:t>src/  ·  React 19 + TypeScript</a:t>
            </a:r>
          </a:p>
          <a:p>
            <a:pPr algn="l">
              <a:spcBef>
                <a:spcPts val="450"/>
              </a:spcBef>
            </a:pP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Vite, Tailwind v4 design tokens, Recharts, lucide-react. Six code-split views behind a sidebar + top-bar shell, with two detail drawers.</a:t>
            </a:r>
          </a:p>
        </p:txBody>
      </p:sp>
      <p:sp>
        <p:nvSpPr>
          <p:cNvPr id="21" name="Shape 21"/>
          <p:cNvSpPr/>
          <p:nvPr/>
        </p:nvSpPr>
        <p:spPr>
          <a:xfrm>
            <a:off x="4378200" y="1980000"/>
            <a:ext cx="3380000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6A5B49"/>
                </a:solidFill>
                <a:latin typeface="Inter"/>
                <a:cs typeface="Inter"/>
              </a:rPr>
              <a:t>BACKEND</a:t>
            </a:r>
          </a:p>
          <a:p>
            <a:pPr algn="l">
              <a:spcBef>
                <a:spcPts val="350"/>
              </a:spcBef>
            </a:pPr>
            <a:r>
              <a:rPr lang="en-US" sz="1350" b="1" i="0" dirty="0">
                <a:solidFill>
                  <a:srgbClr val="241C14"/>
                </a:solidFill>
                <a:latin typeface="Inter"/>
                <a:cs typeface="Inter"/>
              </a:rPr>
              <a:t>backend/app/  ·  FastAPI + SQLAlchemy 2</a:t>
            </a:r>
          </a:p>
          <a:p>
            <a:pPr algn="l">
              <a:spcBef>
                <a:spcPts val="450"/>
              </a:spcBef>
            </a:pP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PostgreSQL, Alembic migrations, Pydantic v2 schemas, JWT auth and RBAC across ten routers.</a:t>
            </a:r>
          </a:p>
        </p:txBody>
      </p:sp>
      <p:sp>
        <p:nvSpPr>
          <p:cNvPr id="22" name="Shape 22"/>
          <p:cNvSpPr/>
          <p:nvPr/>
        </p:nvSpPr>
        <p:spPr>
          <a:xfrm>
            <a:off x="7918200" y="1980000"/>
            <a:ext cx="3380000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6A5B49"/>
                </a:solidFill>
                <a:latin typeface="Inter"/>
                <a:cs typeface="Inter"/>
              </a:rPr>
              <a:t>ML PIPELINE</a:t>
            </a:r>
          </a:p>
          <a:p>
            <a:pPr algn="l">
              <a:spcBef>
                <a:spcPts val="350"/>
              </a:spcBef>
            </a:pPr>
            <a:r>
              <a:rPr lang="en-US" sz="1350" b="1" i="0" dirty="0">
                <a:solidFill>
                  <a:srgbClr val="241C14"/>
                </a:solidFill>
                <a:latin typeface="Inter"/>
                <a:cs typeface="Inter"/>
              </a:rPr>
              <a:t>backend/ml/  ·  scikit-learn</a:t>
            </a:r>
          </a:p>
          <a:p>
            <a:pPr algn="l">
              <a:spcBef>
                <a:spcPts val="450"/>
              </a:spcBef>
            </a:pP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Synthetic data generator, preprocessing, training, a joblib artifact, a weighted risk engine and a deterministic rule engine.</a:t>
            </a:r>
          </a:p>
        </p:txBody>
      </p:sp>
      <p:sp>
        <p:nvSpPr>
          <p:cNvPr id="23" name="Shape 23"/>
          <p:cNvSpPr/>
          <p:nvPr/>
        </p:nvSpPr>
        <p:spPr>
          <a:xfrm>
            <a:off x="838200" y="4080000"/>
            <a:ext cx="10515600" cy="180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8A5406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200" b="1" i="0" dirty="0">
                <a:solidFill>
                  <a:srgbClr val="8A5406"/>
                </a:solidFill>
                <a:latin typeface="Inter"/>
                <a:cs typeface="Inter"/>
              </a:rPr>
              <a:t>THE SEAM  —  and the single most important thing to understand</a:t>
            </a:r>
          </a:p>
          <a:p>
            <a:pPr algn="l">
              <a:spcBef>
                <a:spcPts val="480"/>
              </a:spcBef>
            </a:pPr>
            <a:r>
              <a:rPr lang="en-US" sz="117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70" b="0" i="0" dirty="0">
                <a:solidFill>
                  <a:srgbClr val="6A5B49"/>
                </a:solidFill>
                <a:latin typeface="Inter"/>
                <a:cs typeface="Inter"/>
              </a:rPr>
              <a:t>Auth is wired end to end: the login page calls POST /api/v1/auth/login, stores JWTs and restores the session via /auth/me.</a:t>
            </a:r>
          </a:p>
          <a:p>
            <a:pPr algn="l">
              <a:spcBef>
                <a:spcPts val="480"/>
              </a:spcBef>
            </a:pPr>
            <a:r>
              <a:rPr lang="en-US" sz="117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70" b="0" i="0" dirty="0">
                <a:solidFill>
                  <a:srgbClr val="6A5B49"/>
                </a:solidFill>
                <a:latin typeface="Inter"/>
                <a:cs typeface="Inter"/>
              </a:rPr>
              <a:t>Dashboard data is still mocked: every view imports from src/data/mock.ts, while a full typed API client sits in src/lib/api.ts — unused by the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3800" y="43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400" b="1" i="0" dirty="0">
                <a:solidFill>
                  <a:srgbClr val="EBDFC8"/>
                </a:solidFill>
                <a:latin typeface="Inter"/>
                <a:cs typeface="Inter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4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THE FRONT END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0000"/>
            <a:ext cx="10515600" cy="6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41C14"/>
                </a:solidFill>
                <a:latin typeface="Inter"/>
                <a:cs typeface="Inter"/>
              </a:rPr>
              <a:t>The Analyst Experience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1620000"/>
            <a:ext cx="62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38200" y="6218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Sentinel  ·  Insider Threat Detection (UEBA)  ·  all data synthetic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3800" y="6218000"/>
            <a:ext cx="9000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4 / 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8200" y="1840000"/>
            <a:ext cx="10515600" cy="4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lang="en-US" sz="1330" b="0" i="0" dirty="0">
                <a:solidFill>
                  <a:srgbClr val="6A5B49"/>
                </a:solidFill>
                <a:latin typeface="Inter"/>
                <a:cs typeface="Inter"/>
              </a:rPr>
              <a:t>A keyboard-first triage console: one shell, six destinations, two drawers, and no page reloads anywhere.</a:t>
            </a:r>
          </a:p>
        </p:txBody>
      </p:sp>
      <p:sp>
        <p:nvSpPr>
          <p:cNvPr id="21" name="Shape 21"/>
          <p:cNvSpPr/>
          <p:nvPr/>
        </p:nvSpPr>
        <p:spPr>
          <a:xfrm>
            <a:off x="838200" y="2320000"/>
            <a:ext cx="5100000" cy="24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SIX VIEWS, ONE SHELL</a:t>
            </a:r>
          </a:p>
          <a:p>
            <a:pPr algn="l">
              <a:spcBef>
                <a:spcPts val="480"/>
              </a:spcBef>
            </a:pPr>
            <a:r>
              <a:rPr lang="en-US" sz="116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60" b="0" i="0" dirty="0">
                <a:solidFill>
                  <a:srgbClr val="6A5B49"/>
                </a:solidFill>
                <a:latin typeface="Inter"/>
                <a:cs typeface="Inter"/>
              </a:rPr>
              <a:t>States, not routes: App.tsx owns the active view, and Landing → Login → Shell is a plain state machine behind an auth gate.</a:t>
            </a:r>
          </a:p>
          <a:p>
            <a:pPr algn="l">
              <a:spcBef>
                <a:spcPts val="480"/>
              </a:spcBef>
            </a:pPr>
            <a:r>
              <a:rPr lang="en-US" sz="116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60" b="0" i="0" dirty="0">
                <a:solidFill>
                  <a:srgbClr val="6A5B49"/>
                </a:solidFill>
                <a:latin typeface="Inter"/>
                <a:cs typeface="Inter"/>
              </a:rPr>
              <a:t>Four nav groups — Overview, Detection, Behaviour, Intelligence — drive the sidebar, breadcrumbs and the ⌘K search focus.</a:t>
            </a:r>
          </a:p>
          <a:p>
            <a:pPr algn="l">
              <a:spcBef>
                <a:spcPts val="480"/>
              </a:spcBef>
            </a:pPr>
            <a:r>
              <a:rPr lang="en-US" sz="116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60" b="0" i="0" dirty="0">
                <a:solidFill>
                  <a:srgbClr val="6A5B49"/>
                </a:solidFill>
                <a:latin typeface="Inter"/>
                <a:cs typeface="Inter"/>
              </a:rPr>
              <a:t>Views are React.lazy code-split behind a Suspense skeleton, so the shell paints instantly and a slow view never blocks navigation.</a:t>
            </a:r>
          </a:p>
          <a:p>
            <a:pPr algn="l">
              <a:spcBef>
                <a:spcPts val="480"/>
              </a:spcBef>
            </a:pPr>
            <a:r>
              <a:rPr lang="en-US" sz="116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60" b="0" i="0" dirty="0">
                <a:solidFill>
                  <a:srgbClr val="6A5B49"/>
                </a:solidFill>
                <a:latin typeface="Inter"/>
                <a:cs typeface="Inter"/>
              </a:rPr>
              <a:t>A collapsible sidebar plus shared search state keep triage keyboard-first.</a:t>
            </a:r>
          </a:p>
        </p:txBody>
      </p:sp>
      <p:sp>
        <p:nvSpPr>
          <p:cNvPr id="22" name="Shape 22"/>
          <p:cNvSpPr/>
          <p:nvPr/>
        </p:nvSpPr>
        <p:spPr>
          <a:xfrm>
            <a:off x="6138200" y="2320000"/>
            <a:ext cx="5215600" cy="11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6A5B49"/>
                </a:solidFill>
                <a:latin typeface="Inter"/>
                <a:cs typeface="Inter"/>
              </a:rPr>
              <a:t>THE INVESTIGATION SURFACE</a:t>
            </a:r>
          </a:p>
          <a:p>
            <a:pPr algn="l">
              <a:spcBef>
                <a:spcPts val="430"/>
              </a:spcBef>
            </a:pPr>
            <a:r>
              <a:rPr lang="en-US" sz="1110" b="0" i="0" dirty="0">
                <a:solidFill>
                  <a:srgbClr val="6A5B49"/>
                </a:solidFill>
                <a:latin typeface="Inter"/>
                <a:cs typeface="Inter"/>
              </a:rPr>
              <a:t>The alert drawer carries the narrative, contributing factors, asset and containment actions; the employee drawer carries peer comparison and baseline drift. They cross-link, so a hunch can be followed in either direction.</a:t>
            </a:r>
          </a:p>
        </p:txBody>
      </p:sp>
      <p:sp>
        <p:nvSpPr>
          <p:cNvPr id="23" name="Shape 23"/>
          <p:cNvSpPr/>
          <p:nvPr/>
        </p:nvSpPr>
        <p:spPr>
          <a:xfrm>
            <a:off x="6138200" y="3640000"/>
            <a:ext cx="5215600" cy="11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6A5B49"/>
                </a:solidFill>
                <a:latin typeface="Inter"/>
                <a:cs typeface="Inter"/>
              </a:rPr>
              <a:t>DESIGN LANGUAGE</a:t>
            </a:r>
          </a:p>
          <a:p>
            <a:pPr algn="l">
              <a:spcBef>
                <a:spcPts val="430"/>
              </a:spcBef>
            </a:pPr>
            <a:r>
              <a:rPr lang="en-US" sz="1110" b="0" i="0" dirty="0">
                <a:solidFill>
                  <a:srgbClr val="6A5B49"/>
                </a:solidFill>
                <a:latin typeface="Inter"/>
                <a:cs typeface="Inter"/>
              </a:rPr>
              <a:t>Tailwind v4 CSS variables carry a light/dark token set; Recharts draws the radar, donut, trend and activity-heat visuals; lucide supplies the icons, and a monospace class renders every score.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8200" y="4940000"/>
            <a:ext cx="10515600" cy="28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i="0" dirty="0">
                <a:solidFill>
                  <a:srgbClr val="7C6A4E"/>
                </a:solidFill>
                <a:latin typeface="Inter"/>
                <a:cs typeface="Inter"/>
              </a:rPr>
              <a:t>WHERE THE SIX VIEWS LIVE</a:t>
            </a:r>
          </a:p>
        </p:txBody>
      </p:sp>
      <p:sp>
        <p:nvSpPr>
          <p:cNvPr id="30" name="Shape 30"/>
          <p:cNvSpPr/>
          <p:nvPr/>
        </p:nvSpPr>
        <p:spPr>
          <a:xfrm>
            <a:off x="838200" y="5240000"/>
            <a:ext cx="1602600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950" b="1" i="0" dirty="0">
                <a:solidFill>
                  <a:srgbClr val="6A5B49"/>
                </a:solidFill>
                <a:latin typeface="Inter"/>
                <a:cs typeface="Inter"/>
              </a:rPr>
              <a:t>Command Center</a:t>
            </a:r>
          </a:p>
        </p:txBody>
      </p:sp>
      <p:sp>
        <p:nvSpPr>
          <p:cNvPr id="31" name="Shape 31"/>
          <p:cNvSpPr/>
          <p:nvPr/>
        </p:nvSpPr>
        <p:spPr>
          <a:xfrm>
            <a:off x="2620800" y="5240000"/>
            <a:ext cx="1602600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950" b="1" i="0" dirty="0">
                <a:solidFill>
                  <a:srgbClr val="6A5B49"/>
                </a:solidFill>
                <a:latin typeface="Inter"/>
                <a:cs typeface="Inter"/>
              </a:rPr>
              <a:t>Anomaly Queue</a:t>
            </a:r>
          </a:p>
        </p:txBody>
      </p:sp>
      <p:sp>
        <p:nvSpPr>
          <p:cNvPr id="32" name="Shape 32"/>
          <p:cNvSpPr/>
          <p:nvPr/>
        </p:nvSpPr>
        <p:spPr>
          <a:xfrm>
            <a:off x="4403400" y="5240000"/>
            <a:ext cx="1602600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950" b="1" i="0" dirty="0">
                <a:solidFill>
                  <a:srgbClr val="6A5B49"/>
                </a:solidFill>
                <a:latin typeface="Inter"/>
                <a:cs typeface="Inter"/>
              </a:rPr>
              <a:t>User Behaviour</a:t>
            </a:r>
          </a:p>
        </p:txBody>
      </p:sp>
      <p:sp>
        <p:nvSpPr>
          <p:cNvPr id="33" name="Shape 33"/>
          <p:cNvSpPr/>
          <p:nvPr/>
        </p:nvSpPr>
        <p:spPr>
          <a:xfrm>
            <a:off x="6186000" y="5240000"/>
            <a:ext cx="1602600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950" b="1" i="0" dirty="0">
                <a:solidFill>
                  <a:srgbClr val="6A5B49"/>
                </a:solidFill>
                <a:latin typeface="Inter"/>
                <a:cs typeface="Inter"/>
              </a:rPr>
              <a:t>Activity Timeline</a:t>
            </a:r>
          </a:p>
        </p:txBody>
      </p:sp>
      <p:sp>
        <p:nvSpPr>
          <p:cNvPr id="34" name="Shape 34"/>
          <p:cNvSpPr/>
          <p:nvPr/>
        </p:nvSpPr>
        <p:spPr>
          <a:xfrm>
            <a:off x="7968600" y="5240000"/>
            <a:ext cx="1602600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950" b="1" i="0" dirty="0">
                <a:solidFill>
                  <a:srgbClr val="6A5B49"/>
                </a:solidFill>
                <a:latin typeface="Inter"/>
                <a:cs typeface="Inter"/>
              </a:rPr>
              <a:t>Model Insights</a:t>
            </a:r>
          </a:p>
        </p:txBody>
      </p:sp>
      <p:sp>
        <p:nvSpPr>
          <p:cNvPr id="35" name="Shape 35"/>
          <p:cNvSpPr/>
          <p:nvPr/>
        </p:nvSpPr>
        <p:spPr>
          <a:xfrm>
            <a:off x="9751200" y="5240000"/>
            <a:ext cx="1602600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CCDB1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950" b="1" i="0" dirty="0">
                <a:solidFill>
                  <a:srgbClr val="6A5B49"/>
                </a:solidFill>
                <a:latin typeface="Inter"/>
                <a:cs typeface="Inter"/>
              </a:rPr>
              <a:t>Detection Policies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3800" y="43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400" b="1" i="0" dirty="0">
                <a:solidFill>
                  <a:srgbClr val="EBDFC8"/>
                </a:solidFill>
                <a:latin typeface="Inter"/>
                <a:cs typeface="Inter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4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THE DATA LAYER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0000"/>
            <a:ext cx="10515600" cy="6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41C14"/>
                </a:solidFill>
                <a:latin typeface="Inter"/>
                <a:cs typeface="Inter"/>
              </a:rPr>
              <a:t>Domain Model &amp; Detection Flow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1620000"/>
            <a:ext cx="62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38200" y="6218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Sentinel  ·  Insider Threat Detection (UEBA)  ·  all data synthetic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3800" y="6218000"/>
            <a:ext cx="9000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5 / 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8200" y="1840000"/>
            <a:ext cx="10515600" cy="4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lang="en-US" sz="1330" b="0" i="0" dirty="0">
                <a:solidFill>
                  <a:srgbClr val="6A5B49"/>
                </a:solidFill>
                <a:latin typeface="Inter"/>
                <a:cs typeface="Inter"/>
              </a:rPr>
              <a:t>Seven persisted entities, one rule: everything resolves to a person deviating from their baseline.</a:t>
            </a:r>
          </a:p>
        </p:txBody>
      </p:sp>
      <p:sp>
        <p:nvSpPr>
          <p:cNvPr id="21" name="Shape 21"/>
          <p:cNvSpPr/>
          <p:nvPr/>
        </p:nvSpPr>
        <p:spPr>
          <a:xfrm>
            <a:off x="838200" y="2300000"/>
            <a:ext cx="5100000" cy="23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SEVEN PERSISTED ENTITIES</a:t>
            </a:r>
          </a:p>
          <a:p>
            <a:pPr algn="l">
              <a:spcBef>
                <a:spcPts val="300"/>
              </a:spcBef>
            </a:pPr>
            <a:r>
              <a:rPr lang="en-US" sz="1180" b="1" i="0" dirty="0">
                <a:solidFill>
                  <a:srgbClr val="241C14"/>
                </a:solidFill>
                <a:latin typeface="Inter"/>
                <a:cs typeface="Inter"/>
              </a:rPr>
              <a:t>User   </a:t>
            </a: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identity, role, department, peer group</a:t>
            </a:r>
          </a:p>
          <a:p>
            <a:pPr algn="l">
              <a:spcBef>
                <a:spcPts val="300"/>
              </a:spcBef>
            </a:pPr>
            <a:r>
              <a:rPr lang="en-US" sz="1180" b="1" i="0" dirty="0">
                <a:solidFill>
                  <a:srgbClr val="241C14"/>
                </a:solidFill>
                <a:latin typeface="Inter"/>
                <a:cs typeface="Inter"/>
              </a:rPr>
              <a:t>ActivityEvent   </a:t>
            </a: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raw telemetry with a verdict</a:t>
            </a:r>
          </a:p>
          <a:p>
            <a:pPr algn="l">
              <a:spcBef>
                <a:spcPts val="300"/>
              </a:spcBef>
            </a:pPr>
            <a:r>
              <a:rPr lang="en-US" sz="1180" b="1" i="0" dirty="0">
                <a:solidFill>
                  <a:srgbClr val="241C14"/>
                </a:solidFill>
                <a:latin typeface="Inter"/>
                <a:cs typeface="Inter"/>
              </a:rPr>
              <a:t>Anomaly   </a:t>
            </a: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a detection: kind, severity, score</a:t>
            </a:r>
          </a:p>
          <a:p>
            <a:pPr algn="l">
              <a:spcBef>
                <a:spcPts val="300"/>
              </a:spcBef>
            </a:pPr>
            <a:r>
              <a:rPr lang="en-US" sz="1180" b="1" i="0" dirty="0">
                <a:solidFill>
                  <a:srgbClr val="241C14"/>
                </a:solidFill>
                <a:latin typeface="Inter"/>
                <a:cs typeface="Inter"/>
              </a:rPr>
              <a:t>RiskEvent   </a:t>
            </a: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per-signal weight breakdown</a:t>
            </a:r>
          </a:p>
          <a:p>
            <a:pPr algn="l">
              <a:spcBef>
                <a:spcPts val="300"/>
              </a:spcBef>
            </a:pPr>
            <a:r>
              <a:rPr lang="en-US" sz="1180" b="1" i="0" dirty="0">
                <a:solidFill>
                  <a:srgbClr val="241C14"/>
                </a:solidFill>
                <a:latin typeface="Inter"/>
                <a:cs typeface="Inter"/>
              </a:rPr>
              <a:t>Investigation   </a:t>
            </a: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the case workflow and owner</a:t>
            </a:r>
          </a:p>
          <a:p>
            <a:pPr algn="l">
              <a:spcBef>
                <a:spcPts val="300"/>
              </a:spcBef>
            </a:pPr>
            <a:r>
              <a:rPr lang="en-US" sz="1180" b="1" i="0" dirty="0">
                <a:solidFill>
                  <a:srgbClr val="241C14"/>
                </a:solidFill>
                <a:latin typeface="Inter"/>
                <a:cs typeface="Inter"/>
              </a:rPr>
              <a:t>DetectionPolicy   </a:t>
            </a: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thresholds and rule switches</a:t>
            </a:r>
          </a:p>
          <a:p>
            <a:pPr algn="l">
              <a:spcBef>
                <a:spcPts val="300"/>
              </a:spcBef>
            </a:pPr>
            <a:r>
              <a:rPr lang="en-US" sz="1180" b="1" i="0" dirty="0">
                <a:solidFill>
                  <a:srgbClr val="241C14"/>
                </a:solidFill>
                <a:latin typeface="Inter"/>
                <a:cs typeface="Inter"/>
              </a:rPr>
              <a:t>Notification   </a:t>
            </a:r>
            <a:r>
              <a:rPr lang="en-US" sz="1130" b="0" i="0" dirty="0">
                <a:solidFill>
                  <a:srgbClr val="6A5B49"/>
                </a:solidFill>
                <a:latin typeface="Inter"/>
                <a:cs typeface="Inter"/>
              </a:rPr>
              <a:t>what an analyst gets told</a:t>
            </a:r>
          </a:p>
        </p:txBody>
      </p:sp>
      <p:sp>
        <p:nvSpPr>
          <p:cNvPr id="22" name="Shape 22"/>
          <p:cNvSpPr/>
          <p:nvPr/>
        </p:nvSpPr>
        <p:spPr>
          <a:xfrm>
            <a:off x="6138200" y="2300000"/>
            <a:ext cx="5215600" cy="236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8A5406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8A5406"/>
                </a:solidFill>
                <a:latin typeface="Inter"/>
                <a:cs typeface="Inter"/>
              </a:rPr>
              <a:t>THE ENUM SEAM</a:t>
            </a:r>
          </a:p>
          <a:p>
            <a:pPr algn="l">
              <a:spcBef>
                <a:spcPts val="430"/>
              </a:spcBef>
            </a:pP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The UI speaks lowercase snake_case — </a:t>
            </a: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'off_hours_access'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, severity </a:t>
            </a: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'critical'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. The API speaks UPPER_SNAKE. Any adapter between them has to normalise in both directions.</a:t>
            </a:r>
          </a:p>
          <a:p>
            <a:pPr algn="l">
              <a:spcBef>
                <a:spcPts val="430"/>
              </a:spcBef>
            </a:pP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The model also has two lineages today: two seed scripts and two detector abstractions coexist — one serving the API, one serving the ML pipeline.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8200" y="4760000"/>
            <a:ext cx="10515600" cy="28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i="0" dirty="0">
                <a:solidFill>
                  <a:srgbClr val="7C6A4E"/>
                </a:solidFill>
                <a:latin typeface="Inter"/>
                <a:cs typeface="Inter"/>
              </a:rPr>
              <a:t>THE DETECTION PATH</a:t>
            </a:r>
          </a:p>
        </p:txBody>
      </p:sp>
      <p:sp>
        <p:nvSpPr>
          <p:cNvPr id="30" name="Shape 30"/>
          <p:cNvSpPr/>
          <p:nvPr/>
        </p:nvSpPr>
        <p:spPr>
          <a:xfrm>
            <a:off x="838200" y="5020000"/>
            <a:ext cx="1602600" cy="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1030" b="1" i="0" dirty="0">
                <a:solidFill>
                  <a:srgbClr val="241C14"/>
                </a:solidFill>
                <a:latin typeface="Inter"/>
                <a:cs typeface="Inter"/>
              </a:rPr>
              <a:t>Ingest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440800" y="5020000"/>
            <a:ext cx="18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1" name="Shape 31"/>
          <p:cNvSpPr/>
          <p:nvPr/>
        </p:nvSpPr>
        <p:spPr>
          <a:xfrm>
            <a:off x="2620800" y="5020000"/>
            <a:ext cx="1602600" cy="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1030" b="1" i="0" dirty="0">
                <a:solidFill>
                  <a:srgbClr val="241C14"/>
                </a:solidFill>
                <a:latin typeface="Inter"/>
                <a:cs typeface="Inter"/>
              </a:rPr>
              <a:t>Activity Event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223400" y="5020000"/>
            <a:ext cx="18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2" name="Shape 32"/>
          <p:cNvSpPr/>
          <p:nvPr/>
        </p:nvSpPr>
        <p:spPr>
          <a:xfrm>
            <a:off x="4403400" y="5020000"/>
            <a:ext cx="1602600" cy="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1030" b="1" i="0" dirty="0">
                <a:solidFill>
                  <a:srgbClr val="241C14"/>
                </a:solidFill>
                <a:latin typeface="Inter"/>
                <a:cs typeface="Inter"/>
              </a:rPr>
              <a:t>Detectors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006000" y="5020000"/>
            <a:ext cx="18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6186000" y="5020000"/>
            <a:ext cx="1602600" cy="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1030" b="1" i="0" dirty="0">
                <a:solidFill>
                  <a:srgbClr val="241C14"/>
                </a:solidFill>
                <a:latin typeface="Inter"/>
                <a:cs typeface="Inter"/>
              </a:rPr>
              <a:t>Anomaly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788600" y="5020000"/>
            <a:ext cx="18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4" name="Shape 34"/>
          <p:cNvSpPr/>
          <p:nvPr/>
        </p:nvSpPr>
        <p:spPr>
          <a:xfrm>
            <a:off x="7968600" y="5020000"/>
            <a:ext cx="1602600" cy="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1030" b="1" i="0" dirty="0">
                <a:solidFill>
                  <a:srgbClr val="241C14"/>
                </a:solidFill>
                <a:latin typeface="Inter"/>
                <a:cs typeface="Inter"/>
              </a:rPr>
              <a:t>Risk Event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571200" y="5020000"/>
            <a:ext cx="18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5" name="Shape 35"/>
          <p:cNvSpPr/>
          <p:nvPr/>
        </p:nvSpPr>
        <p:spPr>
          <a:xfrm>
            <a:off x="9751200" y="5020000"/>
            <a:ext cx="1602600" cy="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100000" tIns="50000" rIns="100000" bIns="50000">
            <a:normAutofit/>
          </a:bodyPr>
          <a:lstStyle/>
          <a:p>
            <a:pPr algn="ctr"/>
            <a:r>
              <a:rPr lang="en-US" sz="1030" b="1" i="0" dirty="0">
                <a:solidFill>
                  <a:srgbClr val="241C14"/>
                </a:solidFill>
                <a:latin typeface="Inter"/>
                <a:cs typeface="Inter"/>
              </a:rPr>
              <a:t>Investigation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3800" y="43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400" b="1" i="0" dirty="0">
                <a:solidFill>
                  <a:srgbClr val="EBDFC8"/>
                </a:solidFill>
                <a:latin typeface="Inter"/>
                <a:cs typeface="Inter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4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DETECTION INTELLIGENCE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0000"/>
            <a:ext cx="10515600" cy="6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41C14"/>
                </a:solidFill>
                <a:latin typeface="Inter"/>
                <a:cs typeface="Inter"/>
              </a:rPr>
              <a:t>The ML Pipeline, End to End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1620000"/>
            <a:ext cx="62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38200" y="6218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Sentinel  ·  Insider Threat Detection (UEBA)  ·  all data synthetic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3800" y="6218000"/>
            <a:ext cx="9000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6 / 8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960000"/>
            <a:ext cx="1620000" cy="9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Generate</a:t>
            </a:r>
          </a:p>
          <a:p>
            <a:pPr algn="ctr">
              <a:spcBef>
                <a:spcPts val="250"/>
              </a:spcBef>
            </a:pPr>
            <a:r>
              <a:rPr lang="en-US" sz="900" b="0" i="0" dirty="0">
                <a:solidFill>
                  <a:srgbClr val="6A5B49"/>
                </a:solidFill>
                <a:latin typeface="Inter"/>
                <a:cs typeface="Inter"/>
              </a:rPr>
              <a:t>10k rows</a:t>
            </a:r>
          </a:p>
          <a:p>
            <a:pPr algn="ctr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8% threats</a:t>
            </a:r>
          </a:p>
        </p:txBody>
      </p:sp>
      <p:sp>
        <p:nvSpPr>
          <p:cNvPr id="21" name="Shape 21"/>
          <p:cNvSpPr/>
          <p:nvPr/>
        </p:nvSpPr>
        <p:spPr>
          <a:xfrm>
            <a:off x="2578200" y="1960000"/>
            <a:ext cx="1620000" cy="9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Preprocess</a:t>
            </a:r>
          </a:p>
          <a:p>
            <a:pPr algn="ctr">
              <a:spcBef>
                <a:spcPts val="250"/>
              </a:spcBef>
            </a:pPr>
            <a:r>
              <a:rPr lang="en-US" sz="900" b="0" i="0" dirty="0">
                <a:solidFill>
                  <a:srgbClr val="6A5B49"/>
                </a:solidFill>
                <a:latin typeface="Inter"/>
                <a:cs typeface="Inter"/>
              </a:rPr>
              <a:t>23 features</a:t>
            </a:r>
          </a:p>
          <a:p>
            <a:pPr algn="ctr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log + scale</a:t>
            </a:r>
          </a:p>
        </p:txBody>
      </p:sp>
      <p:sp>
        <p:nvSpPr>
          <p:cNvPr id="22" name="Shape 22"/>
          <p:cNvSpPr/>
          <p:nvPr/>
        </p:nvSpPr>
        <p:spPr>
          <a:xfrm>
            <a:off x="4318200" y="1960000"/>
            <a:ext cx="1620000" cy="9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Train</a:t>
            </a:r>
          </a:p>
          <a:p>
            <a:pPr algn="ctr">
              <a:spcBef>
                <a:spcPts val="250"/>
              </a:spcBef>
            </a:pPr>
            <a:r>
              <a:rPr lang="en-US" sz="900" b="0" i="0" dirty="0">
                <a:solidFill>
                  <a:srgbClr val="6A5B49"/>
                </a:solidFill>
                <a:latin typeface="Inter"/>
                <a:cs typeface="Inter"/>
              </a:rPr>
              <a:t>LogReg vs RF</a:t>
            </a:r>
          </a:p>
          <a:p>
            <a:pPr algn="ctr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best F1</a:t>
            </a:r>
          </a:p>
        </p:txBody>
      </p:sp>
      <p:sp>
        <p:nvSpPr>
          <p:cNvPr id="23" name="Shape 23"/>
          <p:cNvSpPr/>
          <p:nvPr/>
        </p:nvSpPr>
        <p:spPr>
          <a:xfrm>
            <a:off x="6058200" y="1960000"/>
            <a:ext cx="1620000" cy="9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Infer</a:t>
            </a:r>
          </a:p>
          <a:p>
            <a:pPr algn="ctr">
              <a:spcBef>
                <a:spcPts val="250"/>
              </a:spcBef>
            </a:pPr>
            <a:r>
              <a:rPr lang="en-US" sz="900" b="0" i="0" dirty="0">
                <a:solidFill>
                  <a:srgbClr val="6A5B49"/>
                </a:solidFill>
                <a:latin typeface="Inter"/>
                <a:cs typeface="Inter"/>
              </a:rPr>
              <a:t>joblib</a:t>
            </a:r>
          </a:p>
          <a:p>
            <a:pPr algn="ctr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probability</a:t>
            </a:r>
          </a:p>
        </p:txBody>
      </p:sp>
      <p:sp>
        <p:nvSpPr>
          <p:cNvPr id="24" name="Shape 24"/>
          <p:cNvSpPr/>
          <p:nvPr/>
        </p:nvSpPr>
        <p:spPr>
          <a:xfrm>
            <a:off x="7798200" y="1960000"/>
            <a:ext cx="1620000" cy="9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Score</a:t>
            </a:r>
          </a:p>
          <a:p>
            <a:pPr algn="ctr">
              <a:spcBef>
                <a:spcPts val="250"/>
              </a:spcBef>
            </a:pPr>
            <a:r>
              <a:rPr lang="en-US" sz="900" b="0" i="0" dirty="0">
                <a:solidFill>
                  <a:srgbClr val="6A5B49"/>
                </a:solidFill>
                <a:latin typeface="Inter"/>
                <a:cs typeface="Inter"/>
              </a:rPr>
              <a:t>weighted</a:t>
            </a:r>
          </a:p>
          <a:p>
            <a:pPr algn="ctr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0–100</a:t>
            </a:r>
          </a:p>
        </p:txBody>
      </p:sp>
      <p:sp>
        <p:nvSpPr>
          <p:cNvPr id="25" name="Shape 25"/>
          <p:cNvSpPr/>
          <p:nvPr/>
        </p:nvSpPr>
        <p:spPr>
          <a:xfrm>
            <a:off x="9538200" y="1960000"/>
            <a:ext cx="1620000" cy="9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Rules</a:t>
            </a:r>
          </a:p>
          <a:p>
            <a:pPr algn="ctr">
              <a:spcBef>
                <a:spcPts val="250"/>
              </a:spcBef>
            </a:pPr>
            <a:r>
              <a:rPr lang="en-US" sz="900" b="0" i="0" dirty="0">
                <a:solidFill>
                  <a:srgbClr val="6A5B49"/>
                </a:solidFill>
                <a:latin typeface="Inter"/>
                <a:cs typeface="Inter"/>
              </a:rPr>
              <a:t>8 deterministic</a:t>
            </a:r>
          </a:p>
          <a:p>
            <a:pPr algn="ctr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signals</a:t>
            </a:r>
          </a:p>
        </p:txBody>
      </p:sp>
      <p:sp>
        <p:nvSpPr>
          <p:cNvPr id="30" name="Shape 30"/>
          <p:cNvSpPr/>
          <p:nvPr/>
        </p:nvSpPr>
        <p:spPr>
          <a:xfrm>
            <a:off x="838200" y="3080000"/>
            <a:ext cx="5900000" cy="15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250" b="1" i="0" dirty="0">
                <a:solidFill>
                  <a:srgbClr val="241C14"/>
                </a:solidFill>
                <a:latin typeface="Inter"/>
                <a:cs typeface="Inter"/>
              </a:rPr>
              <a:t>RISK SCORE  —  ml/risk_engine.py</a:t>
            </a:r>
          </a:p>
          <a:p>
            <a:pPr algn="l">
              <a:spcBef>
                <a:spcPts val="500"/>
              </a:spcBef>
            </a:pPr>
            <a:r>
              <a:rPr lang="en-US" sz="1120" b="0" i="0" dirty="0">
                <a:solidFill>
                  <a:srgbClr val="0E7490"/>
                </a:solidFill>
                <a:latin typeface="Inter"/>
                <a:cs typeface="Inter"/>
              </a:rPr>
              <a:t>0.40 × ML probability   +   0.30 × behavioural signals   +   0.15 × asset criticality   +   0.15 × privilege context</a:t>
            </a:r>
          </a:p>
          <a:p>
            <a:pPr algn="l">
              <a:spcBef>
                <a:spcPts val="450"/>
              </a:spcBef>
            </a:pPr>
            <a:r>
              <a:rPr lang="en-US" sz="1050" b="0" i="0" dirty="0">
                <a:solidFill>
                  <a:srgbClr val="7C6A4E"/>
                </a:solidFill>
                <a:latin typeface="Inter"/>
                <a:cs typeface="Inter"/>
              </a:rPr>
              <a:t>Clamped to 0–100, then bucketed into a severity band and paired with a plain-English explanation of the dominant signals.</a:t>
            </a:r>
          </a:p>
        </p:txBody>
      </p:sp>
      <p:sp>
        <p:nvSpPr>
          <p:cNvPr id="31" name="Shape 31"/>
          <p:cNvSpPr/>
          <p:nvPr/>
        </p:nvSpPr>
        <p:spPr>
          <a:xfrm>
            <a:off x="6898200" y="3080000"/>
            <a:ext cx="4600000" cy="15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250" b="1" i="0" dirty="0">
                <a:solidFill>
                  <a:srgbClr val="241C14"/>
                </a:solidFill>
                <a:latin typeface="Inter"/>
                <a:cs typeface="Inter"/>
              </a:rPr>
              <a:t>SEVERITY BANDS</a:t>
            </a:r>
          </a:p>
          <a:p>
            <a:pPr algn="l">
              <a:spcBef>
                <a:spcPts val="550"/>
              </a:spcBef>
            </a:pPr>
            <a:r>
              <a:rPr lang="en-US" sz="1200" b="1" i="0" dirty="0">
                <a:solidFill>
                  <a:srgbClr val="7C6A4E"/>
                </a:solidFill>
                <a:latin typeface="Inter"/>
                <a:cs typeface="Inter"/>
              </a:rPr>
              <a:t>LOW  </a:t>
            </a:r>
            <a:r>
              <a:rPr lang="en-US" sz="1200" b="0" i="0" dirty="0">
                <a:solidFill>
                  <a:srgbClr val="6A5B49"/>
                </a:solidFill>
                <a:latin typeface="Inter"/>
                <a:cs typeface="Inter"/>
              </a:rPr>
              <a:t>0–39      </a:t>
            </a:r>
            <a:r>
              <a:rPr lang="en-US" sz="1200" b="1" i="0" dirty="0">
                <a:solidFill>
                  <a:srgbClr val="7C6A4E"/>
                </a:solidFill>
                <a:latin typeface="Inter"/>
                <a:cs typeface="Inter"/>
              </a:rPr>
              <a:t>MEDIUM  </a:t>
            </a:r>
            <a:r>
              <a:rPr lang="en-US" sz="1200" b="0" i="0" dirty="0">
                <a:solidFill>
                  <a:srgbClr val="6A5B49"/>
                </a:solidFill>
                <a:latin typeface="Inter"/>
                <a:cs typeface="Inter"/>
              </a:rPr>
              <a:t>40–69</a:t>
            </a:r>
          </a:p>
          <a:p>
            <a:pPr algn="l">
              <a:spcBef>
                <a:spcPts val="420"/>
              </a:spcBef>
            </a:pPr>
            <a:r>
              <a:rPr lang="en-US" sz="1200" b="1" i="0" dirty="0">
                <a:solidFill>
                  <a:srgbClr val="8A5406"/>
                </a:solidFill>
                <a:latin typeface="Inter"/>
                <a:cs typeface="Inter"/>
              </a:rPr>
              <a:t>HIGH  </a:t>
            </a:r>
            <a:r>
              <a:rPr lang="en-US" sz="1200" b="0" i="0" dirty="0">
                <a:solidFill>
                  <a:srgbClr val="6A5B49"/>
                </a:solidFill>
                <a:latin typeface="Inter"/>
                <a:cs typeface="Inter"/>
              </a:rPr>
              <a:t>70–89     </a:t>
            </a:r>
            <a:r>
              <a:rPr lang="en-US" sz="1200" b="1" i="0" dirty="0">
                <a:solidFill>
                  <a:srgbClr val="BE123C"/>
                </a:solidFill>
                <a:latin typeface="Inter"/>
                <a:cs typeface="Inter"/>
              </a:rPr>
              <a:t>CRITICAL  </a:t>
            </a:r>
            <a:r>
              <a:rPr lang="en-US" sz="1200" b="0" i="0" dirty="0">
                <a:solidFill>
                  <a:srgbClr val="6A5B49"/>
                </a:solidFill>
                <a:latin typeface="Inter"/>
                <a:cs typeface="Inter"/>
              </a:rPr>
              <a:t>90–100</a:t>
            </a:r>
          </a:p>
          <a:p>
            <a:pPr algn="l">
              <a:spcBef>
                <a:spcPts val="430"/>
              </a:spcBef>
            </a:pPr>
            <a:r>
              <a:rPr lang="en-US" sz="1020" b="0" i="0" dirty="0">
                <a:solidFill>
                  <a:srgbClr val="7C6A4E"/>
                </a:solidFill>
                <a:latin typeface="Inter"/>
                <a:cs typeface="Inter"/>
              </a:rPr>
              <a:t>Bands map back onto the UI's severity labels.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200" y="4820000"/>
            <a:ext cx="10515600" cy="48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lang="en-US" sz="1200" b="1" i="0" dirty="0">
                <a:solidFill>
                  <a:srgbClr val="241C14"/>
                </a:solidFill>
                <a:latin typeface="Inter"/>
                <a:cs typeface="Inter"/>
              </a:rPr>
              <a:t>Explainability is first-class: </a:t>
            </a:r>
            <a:r>
              <a:rPr lang="en-US" sz="1200" b="0" i="0" dirty="0">
                <a:solidFill>
                  <a:srgbClr val="6A5B49"/>
                </a:solidFill>
                <a:latin typeface="Inter"/>
                <a:cs typeface="Inter"/>
              </a:rPr>
              <a:t>the artifact stores normalised feature importances, every prediction returns its top risk factors, and persisted risk_event rows record each signal's weight and contribution.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3800" y="43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400" b="1" i="0" dirty="0">
                <a:solidFill>
                  <a:srgbClr val="EBDFC8"/>
                </a:solidFill>
                <a:latin typeface="Inter"/>
                <a:cs typeface="Inter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4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PLATFORM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0000"/>
            <a:ext cx="10515600" cy="6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41C14"/>
                </a:solidFill>
                <a:latin typeface="Inter"/>
                <a:cs typeface="Inter"/>
              </a:rPr>
              <a:t>Security &amp; API Surface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1620000"/>
            <a:ext cx="62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38200" y="6218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Sentinel  ·  Insider Threat Detection (UEBA)  ·  all data synthetic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3800" y="6218000"/>
            <a:ext cx="9000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7 / 8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960000"/>
            <a:ext cx="5900000" cy="21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ROLE-BASED ACCESS CONTROL</a:t>
            </a:r>
          </a:p>
          <a:p>
            <a:pPr algn="l">
              <a:spcBef>
                <a:spcPts val="450"/>
              </a:spcBef>
            </a:pPr>
            <a:r>
              <a:rPr lang="en-US" sz="1200" b="1" i="0" dirty="0">
                <a:solidFill>
                  <a:srgbClr val="BE123C"/>
                </a:solidFill>
                <a:latin typeface="Inter"/>
                <a:cs typeface="Inter"/>
              </a:rPr>
              <a:t>ADMIN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   full access, delete policies, ingest data</a:t>
            </a:r>
          </a:p>
          <a:p>
            <a:pPr algn="l">
              <a:spcBef>
                <a:spcPts val="380"/>
              </a:spcBef>
            </a:pPr>
            <a:r>
              <a:rPr lang="en-US" sz="1200" b="1" i="0" dirty="0">
                <a:solidFill>
                  <a:srgbClr val="8A5406"/>
                </a:solidFill>
                <a:latin typeface="Inter"/>
                <a:cs typeface="Inter"/>
              </a:rPr>
              <a:t>SECURITY_MANAGER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   policies, assign investigations</a:t>
            </a:r>
          </a:p>
          <a:p>
            <a:pPr algn="l">
              <a:spcBef>
                <a:spcPts val="380"/>
              </a:spcBef>
            </a:pPr>
            <a:r>
              <a:rPr lang="en-US" sz="1200" b="1" i="0" dirty="0">
                <a:solidFill>
                  <a:srgbClr val="166534"/>
                </a:solidFill>
                <a:latin typeface="Inter"/>
                <a:cs typeface="Inter"/>
              </a:rPr>
              <a:t>SECURITY_ANALYST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   anomalies, ML predictions, cases</a:t>
            </a:r>
          </a:p>
          <a:p>
            <a:pPr algn="l">
              <a:spcBef>
                <a:spcPts val="380"/>
              </a:spcBef>
            </a:pPr>
            <a:r>
              <a:rPr lang="en-US" sz="1200" b="1" i="0" dirty="0">
                <a:solidFill>
                  <a:srgbClr val="7C6A4E"/>
                </a:solidFill>
                <a:latin typeface="Inter"/>
                <a:cs typeface="Inter"/>
              </a:rPr>
              <a:t>VIEWER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   read-only dashboard</a:t>
            </a:r>
          </a:p>
        </p:txBody>
      </p:sp>
      <p:sp>
        <p:nvSpPr>
          <p:cNvPr id="21" name="Shape 21"/>
          <p:cNvSpPr/>
          <p:nvPr/>
        </p:nvSpPr>
        <p:spPr>
          <a:xfrm>
            <a:off x="6898200" y="1960000"/>
            <a:ext cx="4600000" cy="21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AUTH &amp; HARDENING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JWT access (30 min) + refresh (7 day) tokens, bcrypt hashing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CORS allow-list, security headers, request IDs and timing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Global 500 handler, IDOR-safe lookups, audit trails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~40 endpoints under /api/v1, documented at /docs</a:t>
            </a:r>
          </a:p>
        </p:txBody>
      </p:sp>
      <p:sp>
        <p:nvSpPr>
          <p:cNvPr id="22" name="Shape 22"/>
          <p:cNvSpPr/>
          <p:nvPr/>
        </p:nvSpPr>
        <p:spPr>
          <a:xfrm>
            <a:off x="838200" y="4240000"/>
            <a:ext cx="10515600" cy="166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7C6A4E"/>
                </a:solidFill>
                <a:latin typeface="Inter"/>
                <a:cs typeface="Inter"/>
              </a:rPr>
              <a:t>API GROUPS</a:t>
            </a:r>
          </a:p>
          <a:p>
            <a:pPr algn="l">
              <a:spcBef>
                <a:spcPts val="420"/>
              </a:spcBef>
            </a:pPr>
            <a:r>
              <a:rPr lang="en-US" sz="1280" b="1" i="0" dirty="0">
                <a:solidFill>
                  <a:srgbClr val="241C14"/>
                </a:solidFill>
                <a:latin typeface="Inter"/>
                <a:cs typeface="Inter"/>
              </a:rPr>
              <a:t>auth  ·  dashboard  ·  users  ·  anomalies  ·  investigations  ·  activity  ·  policies  ·  notifications  ·  ingestion  ·  ml</a:t>
            </a:r>
          </a:p>
          <a:p>
            <a:pPr algn="l">
              <a:spcBef>
                <a:spcPts val="600"/>
              </a:spcBef>
            </a:pPr>
            <a:r>
              <a:rPr lang="en-US" sz="1100" b="0" i="0" dirty="0">
                <a:solidFill>
                  <a:srgbClr val="7C6A4E"/>
                </a:solidFill>
                <a:latin typeface="Inter"/>
                <a:cs typeface="Inter"/>
              </a:rPr>
              <a:t>Demo accounts (development only):   </a:t>
            </a:r>
            <a:r>
              <a:rPr lang="en-US" sz="1100" b="0" i="0" dirty="0">
                <a:solidFill>
                  <a:srgbClr val="6A5B49"/>
                </a:solidFill>
                <a:latin typeface="Inter"/>
                <a:cs typeface="Inter"/>
              </a:rPr>
              <a:t>admin@sentinel.demo / Admin123!</a:t>
            </a:r>
            <a:r>
              <a:rPr lang="en-US" sz="1100" b="0" i="0" dirty="0">
                <a:solidFill>
                  <a:srgbClr val="6A5B49"/>
                </a:solidFill>
                <a:latin typeface="Inter"/>
                <a:cs typeface="Inter"/>
              </a:rPr>
              <a:t>     sarah.chen@sentinel.demo / Analyst123!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500"/>
            </a:srgbClr>
          </a:soli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53800" y="43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400" b="1" i="0" dirty="0">
                <a:solidFill>
                  <a:srgbClr val="EBDFC8"/>
                </a:solidFill>
                <a:latin typeface="Inter"/>
                <a:cs typeface="Inter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200" y="64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TAKEAWAYS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200" y="920000"/>
            <a:ext cx="10515600" cy="62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41C14"/>
                </a:solidFill>
                <a:latin typeface="Inter"/>
                <a:cs typeface="Inter"/>
              </a:rPr>
              <a:t>Getting Started &amp; Where to Look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1620000"/>
            <a:ext cx="62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80000" tIns="90000" rIns="180000" bIns="90000">
            <a:normAutofit/>
          </a:bodyPr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38200" y="6218000"/>
            <a:ext cx="105156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Sentinel  ·  Insider Threat Detection (UEBA)  ·  all data synthetic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3800" y="6218000"/>
            <a:ext cx="900000" cy="3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8 / 8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960000"/>
            <a:ext cx="5900000" cy="21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RUN IT</a:t>
            </a:r>
          </a:p>
          <a:p>
            <a:pPr algn="l">
              <a:spcBef>
                <a:spcPts val="480"/>
              </a:spcBef>
            </a:pPr>
            <a:r>
              <a:rPr lang="en-US" sz="115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npm install &amp;&amp; npm run dev      →  UI at :5173</a:t>
            </a:r>
          </a:p>
          <a:p>
            <a:pPr algn="l">
              <a:spcBef>
                <a:spcPts val="480"/>
              </a:spcBef>
            </a:pPr>
            <a:r>
              <a:rPr lang="en-US" sz="115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docker compose up --build      →  API at :8000</a:t>
            </a:r>
          </a:p>
          <a:p>
            <a:pPr algn="l">
              <a:spcBef>
                <a:spcPts val="480"/>
              </a:spcBef>
            </a:pPr>
            <a:r>
              <a:rPr lang="en-US" sz="115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python ml/train.py             →  build the model artifact</a:t>
            </a:r>
          </a:p>
          <a:p>
            <a:pPr algn="l">
              <a:spcBef>
                <a:spcPts val="480"/>
              </a:spcBef>
            </a:pPr>
            <a:r>
              <a:rPr lang="en-US" sz="115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50" b="0" i="0" dirty="0">
                <a:solidFill>
                  <a:srgbClr val="6A5B49"/>
                </a:solidFill>
                <a:latin typeface="Inter"/>
                <a:cs typeface="Inter"/>
              </a:rPr>
              <a:t>pytest tests/ -v               →  backend test suite</a:t>
            </a:r>
          </a:p>
        </p:txBody>
      </p:sp>
      <p:sp>
        <p:nvSpPr>
          <p:cNvPr id="21" name="Shape 21"/>
          <p:cNvSpPr/>
          <p:nvPr/>
        </p:nvSpPr>
        <p:spPr>
          <a:xfrm>
            <a:off x="6898200" y="1960000"/>
            <a:ext cx="4600000" cy="21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0E7490"/>
                </a:solidFill>
                <a:latin typeface="Inter"/>
                <a:cs typeface="Inter"/>
              </a:rPr>
              <a:t>WHERE TO LOOK FIRST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src/App.tsx — the shell, the view switch and both drawers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src/data/mock.ts + any view — how a screen is actually built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src/lib/api.ts — the typed client that already talks to the API</a:t>
            </a:r>
          </a:p>
          <a:p>
            <a:pPr algn="l">
              <a:spcBef>
                <a:spcPts val="480"/>
              </a:spcBef>
            </a:pPr>
            <a:r>
              <a:rPr lang="en-US" sz="1120" b="1" i="0" dirty="0">
                <a:solidFill>
                  <a:srgbClr val="0E7490"/>
                </a:solidFill>
                <a:latin typeface="Inter"/>
                <a:cs typeface="Inter"/>
              </a:rPr>
              <a:t>–   </a:t>
            </a:r>
            <a:r>
              <a:rPr lang="en-US" sz="1120" b="0" i="0" dirty="0">
                <a:solidFill>
                  <a:srgbClr val="6A5B49"/>
                </a:solidFill>
                <a:latin typeface="Inter"/>
                <a:cs typeface="Inter"/>
              </a:rPr>
              <a:t>backend/app/main.py and ml/inference.py — the detection path</a:t>
            </a:r>
          </a:p>
        </p:txBody>
      </p:sp>
      <p:sp>
        <p:nvSpPr>
          <p:cNvPr id="22" name="Shape 22"/>
          <p:cNvSpPr/>
          <p:nvPr/>
        </p:nvSpPr>
        <p:spPr>
          <a:xfrm>
            <a:off x="838200" y="4240000"/>
            <a:ext cx="10515600" cy="166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8A5406"/>
            </a:solidFill>
          </a:ln>
          <a:effectLst>
            <a:outerShdw blurRad="120000" dist="26000" dir="5400000" rotWithShape="0">
              <a:srgbClr val="8A7350">
                <a:alpha val="18000"/>
              </a:srgbClr>
            </a:outerShdw>
          </a:effectLst>
        </p:spPr>
        <p:txBody>
          <a:bodyPr wrap="square" rtlCol="0" anchor="t" lIns="180000" tIns="90000" rIns="180000" bIns="90000">
            <a:normAutofit/>
          </a:bodyPr>
          <a:lstStyle/>
          <a:p>
            <a:pPr algn="l"/>
            <a:r>
              <a:rPr lang="en-US" sz="1050" b="1" i="0" dirty="0">
                <a:solidFill>
                  <a:srgbClr val="8A5406"/>
                </a:solidFill>
                <a:latin typeface="Inter"/>
                <a:cs typeface="Inter"/>
              </a:rPr>
              <a:t>KNOWN ROUGH EDGES</a:t>
            </a:r>
          </a:p>
          <a:p>
            <a:pPr algn="l">
              <a:spcBef>
                <a:spcPts val="480"/>
              </a:spcBef>
            </a:pPr>
            <a:r>
              <a:rPr lang="en-US" sz="1170" b="0" i="0" dirty="0">
                <a:solidFill>
                  <a:srgbClr val="6A5B49"/>
                </a:solidFill>
                <a:latin typeface="Inter"/>
                <a:cs typeface="Inter"/>
              </a:rPr>
              <a:t>Enum casing between UI and API, two seed scripts and two detector abstractions, and two small config typos (ACCESS_TOKEN_EXPIME_MINUTES, autoflush) — all low-risk, high-clarity fixes.</a:t>
            </a:r>
          </a:p>
          <a:p>
            <a:pPr algn="l">
              <a:spcBef>
                <a:spcPts val="430"/>
              </a:spcBef>
            </a:pPr>
            <a:r>
              <a:rPr lang="en-US" sz="1120" b="0" i="0" dirty="0">
                <a:solidFill>
                  <a:srgbClr val="7C6A4E"/>
                </a:solidFill>
                <a:latin typeface="Inter"/>
                <a:cs typeface="Inter"/>
              </a:rPr>
              <a:t>Bigger opportunity: point one view at the API client and retire its mock import — the seam closes one screen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">
  <a:themeElements>
    <a:clrScheme name="Sentinel">
      <a:dk1>
        <a:srgbClr val="F6EDDD"/>
      </a:dk1>
      <a:lt1>
        <a:srgbClr val="FFFFFF"/>
      </a:lt1>
      <a:dk2>
        <a:srgbClr val="FFFFFF"/>
      </a:dk2>
      <a:lt2>
        <a:srgbClr val="241C14"/>
      </a:lt2>
      <a:accent1>
        <a:srgbClr val="0E7490"/>
      </a:accent1>
      <a:accent2>
        <a:srgbClr val="166534"/>
      </a:accent2>
      <a:accent3>
        <a:srgbClr val="8A5406"/>
      </a:accent3>
      <a:accent4>
        <a:srgbClr val="BE123C"/>
      </a:accent4>
      <a:accent5>
        <a:srgbClr val="6A5B49"/>
      </a:accent5>
      <a:accent6>
        <a:srgbClr val="7C6A4E"/>
      </a:accent6>
      <a:hlink>
        <a:srgbClr val="0E7490"/>
      </a:hlink>
      <a:folHlink>
        <a:srgbClr val="6A5B49"/>
      </a:folHlink>
    </a:clrScheme>
    <a:fontScheme name="Sentinel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Sentine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Company>Sentinel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Project Overview</dc:title>
  <dc:subject>Insider threat detection (UEBA) platform</dc:subject>
  <dc:creator>Sentinel</dc:creator>
  <cp:lastModifiedBy>Sentinel</cp:lastModifiedBy>
</cp:coreProperties>
</file>
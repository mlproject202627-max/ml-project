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D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392000" y="-1800000"/>
            <a:ext cx="5000000" cy="5000000"/>
          </a:xfrm>
          <a:prstGeom prst="ellipse">
            <a:avLst/>
          </a:prstGeom>
          <a:solidFill>
            <a:srgbClr val="0E7490">
              <a:alpha val="12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2000000" y="4258000"/>
            <a:ext cx="4400000" cy="4400000"/>
          </a:xfrm>
          <a:prstGeom prst="ellipse">
            <a:avLst/>
          </a:prstGeom>
          <a:solidFill>
            <a:srgbClr val="C2410C">
              <a:alpha val="8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0" y="0"/>
            <a:ext cx="12192000" cy="30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838200" y="1230000"/>
            <a:ext cx="105156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000" b="1" i="0" spc="80" dirty="0">
                <a:solidFill>
                  <a:srgbClr val="7C6A4E"/>
                </a:solidFill>
                <a:latin typeface="Inter"/>
                <a:cs typeface="Inter"/>
              </a:rPr>
              <a:t>COLLEGE PROJECT  ·  CYBERSECURITY &amp; AI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8200" y="1500000"/>
            <a:ext cx="10515600" cy="9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4200" b="1" i="0" dirty="0">
                <a:solidFill>
                  <a:srgbClr val="1F1A14"/>
                </a:solidFill>
                <a:latin typeface="Inter"/>
                <a:cs typeface="Inter"/>
              </a:rPr>
              <a:t>Insider Threat Detection System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" y="2420000"/>
            <a:ext cx="10515600" cy="4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1700" b="1" i="0" dirty="0">
                <a:solidFill>
                  <a:srgbClr val="0E7490"/>
                </a:solidFill>
                <a:latin typeface="Inter"/>
                <a:cs typeface="Inter"/>
              </a:rPr>
              <a:t>AI-Powered Behavioral Analytics for Enterprise Security</a:t>
            </a:r>
          </a:p>
        </p:txBody>
      </p:sp>
      <p:sp>
        <p:nvSpPr>
          <p:cNvPr id="17" name="Shape 17"/>
          <p:cNvSpPr/>
          <p:nvPr/>
        </p:nvSpPr>
        <p:spPr>
          <a:xfrm>
            <a:off x="838200" y="2900000"/>
            <a:ext cx="900000" cy="30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20" name="Shape 20"/>
          <p:cNvSpPr/>
          <p:nvPr/>
        </p:nvSpPr>
        <p:spPr>
          <a:xfrm>
            <a:off x="838200" y="3100000"/>
            <a:ext cx="2433900" cy="7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Employee Activity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272100" y="3100000"/>
            <a:ext cx="260000" cy="78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1" name="Shape 21"/>
          <p:cNvSpPr/>
          <p:nvPr/>
        </p:nvSpPr>
        <p:spPr>
          <a:xfrm>
            <a:off x="3532100" y="3100000"/>
            <a:ext cx="2433900" cy="7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Behavioral Analysis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5966000" y="3100000"/>
            <a:ext cx="260000" cy="78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2" name="Shape 22"/>
          <p:cNvSpPr/>
          <p:nvPr/>
        </p:nvSpPr>
        <p:spPr>
          <a:xfrm>
            <a:off x="6226000" y="3100000"/>
            <a:ext cx="2433900" cy="7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Machine Learning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659900" y="3100000"/>
            <a:ext cx="260000" cy="78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3" name="Shape 23"/>
          <p:cNvSpPr/>
          <p:nvPr/>
        </p:nvSpPr>
        <p:spPr>
          <a:xfrm>
            <a:off x="8919900" y="3100000"/>
            <a:ext cx="2433900" cy="7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Security Alert</a:t>
            </a:r>
          </a:p>
        </p:txBody>
      </p:sp>
      <p:sp>
        <p:nvSpPr>
          <p:cNvPr id="40" name="Shape 40"/>
          <p:cNvSpPr/>
          <p:nvPr/>
        </p:nvSpPr>
        <p:spPr>
          <a:xfrm>
            <a:off x="838200" y="4180000"/>
            <a:ext cx="2508900" cy="90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8C7A6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ctr"/>
            <a:r>
              <a:rPr lang="en-US" sz="900" b="1" i="0" dirty="0">
                <a:solidFill>
                  <a:srgbClr val="7C6A4E"/>
                </a:solidFill>
                <a:latin typeface="Inter"/>
                <a:cs typeface="Inter"/>
              </a:rPr>
              <a:t>TEAM</a:t>
            </a:r>
          </a:p>
          <a:p>
            <a:pPr algn="ctr">
              <a:spcBef>
                <a:spcPts val="280"/>
              </a:spcBef>
            </a:pP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[ Team Name ]</a:t>
            </a:r>
          </a:p>
        </p:txBody>
      </p:sp>
      <p:sp>
        <p:nvSpPr>
          <p:cNvPr id="41" name="Shape 41"/>
          <p:cNvSpPr/>
          <p:nvPr/>
        </p:nvSpPr>
        <p:spPr>
          <a:xfrm>
            <a:off x="3507100" y="4180000"/>
            <a:ext cx="2508900" cy="90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8C7A6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ctr"/>
            <a:r>
              <a:rPr lang="en-US" sz="900" b="1" i="0" dirty="0">
                <a:solidFill>
                  <a:srgbClr val="7C6A4E"/>
                </a:solidFill>
                <a:latin typeface="Inter"/>
                <a:cs typeface="Inter"/>
              </a:rPr>
              <a:t>MEMBERS</a:t>
            </a:r>
          </a:p>
          <a:p>
            <a:pPr algn="ctr">
              <a:spcBef>
                <a:spcPts val="280"/>
              </a:spcBef>
            </a:pP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[ Member 1 · Member 2 · Member 3 ]</a:t>
            </a:r>
          </a:p>
        </p:txBody>
      </p:sp>
      <p:sp>
        <p:nvSpPr>
          <p:cNvPr id="42" name="Shape 42"/>
          <p:cNvSpPr/>
          <p:nvPr/>
        </p:nvSpPr>
        <p:spPr>
          <a:xfrm>
            <a:off x="6176000" y="4180000"/>
            <a:ext cx="2508900" cy="90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8C7A6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ctr"/>
            <a:r>
              <a:rPr lang="en-US" sz="900" b="1" i="0" dirty="0">
                <a:solidFill>
                  <a:srgbClr val="7C6A4E"/>
                </a:solidFill>
                <a:latin typeface="Inter"/>
                <a:cs typeface="Inter"/>
              </a:rPr>
              <a:t>INSTITUTION</a:t>
            </a:r>
          </a:p>
          <a:p>
            <a:pPr algn="ctr">
              <a:spcBef>
                <a:spcPts val="280"/>
              </a:spcBef>
            </a:pP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[ College / University ]</a:t>
            </a:r>
          </a:p>
        </p:txBody>
      </p:sp>
      <p:sp>
        <p:nvSpPr>
          <p:cNvPr id="43" name="Shape 43"/>
          <p:cNvSpPr/>
          <p:nvPr/>
        </p:nvSpPr>
        <p:spPr>
          <a:xfrm>
            <a:off x="8844900" y="4180000"/>
            <a:ext cx="2508900" cy="90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8C7A6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ctr"/>
            <a:r>
              <a:rPr lang="en-US" sz="900" b="1" i="0" dirty="0">
                <a:solidFill>
                  <a:srgbClr val="7C6A4E"/>
                </a:solidFill>
                <a:latin typeface="Inter"/>
                <a:cs typeface="Inter"/>
              </a:rPr>
              <a:t>DEPARTMENT</a:t>
            </a:r>
          </a:p>
          <a:p>
            <a:pPr algn="ctr">
              <a:spcBef>
                <a:spcPts val="280"/>
              </a:spcBef>
            </a:pP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[ Computer Science &amp; Engineering ]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838200" y="5300000"/>
            <a:ext cx="10515600" cy="48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Built with   </a:t>
            </a:r>
            <a:r>
              <a:rPr lang="en-US" sz="950" b="1" i="0" dirty="0">
                <a:solidFill>
                  <a:srgbClr val="63553F"/>
                </a:solidFill>
                <a:latin typeface="Inter"/>
                <a:cs typeface="Inter"/>
              </a:rPr>
              <a:t>React 19  ·  TypeScript  ·  Vite  ·  Tailwind v4  ·  Recharts</a:t>
            </a:r>
          </a:p>
          <a:p>
            <a:pPr algn="l">
              <a:spcBef>
                <a:spcPts val="300"/>
              </a:spcBef>
            </a:pPr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Serving stack   </a:t>
            </a:r>
            <a:r>
              <a:rPr lang="en-US" sz="950" b="1" i="0" dirty="0">
                <a:solidFill>
                  <a:srgbClr val="63553F"/>
                </a:solidFill>
                <a:latin typeface="Inter"/>
                <a:cs typeface="Inter"/>
              </a:rPr>
              <a:t>FastAPI  ·  SQLAlchemy 2  ·  PostgreSQL  ·  Alembic  ·  Pydantic v2  ·  JWT + RBAC</a:t>
            </a:r>
          </a:p>
          <a:p>
            <a:pPr algn="l">
              <a:spcBef>
                <a:spcPts val="300"/>
              </a:spcBef>
            </a:pPr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Intelligence   </a:t>
            </a:r>
            <a:r>
              <a:rPr lang="en-US" sz="950" b="1" i="0" dirty="0">
                <a:solidFill>
                  <a:srgbClr val="63553F"/>
                </a:solidFill>
                <a:latin typeface="Inter"/>
                <a:cs typeface="Inter"/>
              </a:rPr>
              <a:t>scikit-learn  ·  pandas  ·  NumPy  ·  joblib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38200" y="6200000"/>
            <a:ext cx="74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Insider Threat Detection System  ·  all identities, events and detections are synthetic sample data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0453800" y="6200000"/>
            <a:ext cx="9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653800" y="40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200" b="1" i="0" dirty="0">
                <a:solidFill>
                  <a:srgbClr val="EBDFC8"/>
                </a:solidFill>
                <a:latin typeface="Inter"/>
                <a:cs typeface="Inter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8200" y="600000"/>
            <a:ext cx="10515600" cy="2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7C6A4E"/>
                </a:solidFill>
                <a:latin typeface="Inter"/>
                <a:cs typeface="Inter"/>
              </a:rPr>
              <a:t>THE CHALLENGE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" y="860000"/>
            <a:ext cx="105156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2650" b="1" i="0" dirty="0">
                <a:solidFill>
                  <a:srgbClr val="1F1A14"/>
                </a:solidFill>
                <a:latin typeface="Inter"/>
                <a:cs typeface="Inter"/>
              </a:rPr>
              <a:t>Why Insider Threats Are Hard to Detect</a:t>
            </a:r>
          </a:p>
        </p:txBody>
      </p:sp>
      <p:sp>
        <p:nvSpPr>
          <p:cNvPr id="17" name="Shape 17"/>
          <p:cNvSpPr/>
          <p:nvPr/>
        </p:nvSpPr>
        <p:spPr>
          <a:xfrm>
            <a:off x="838200" y="1530000"/>
            <a:ext cx="600000" cy="28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38200" y="6200000"/>
            <a:ext cx="74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Insider Threat Detection System  ·  AI-Powered Behavioral Analytics for Enterprise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53800" y="6200000"/>
            <a:ext cx="9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2 / 10</a:t>
            </a:r>
          </a:p>
        </p:txBody>
      </p:sp>
      <p:sp>
        <p:nvSpPr>
          <p:cNvPr id="20" name="Shape 20"/>
          <p:cNvSpPr/>
          <p:nvPr/>
        </p:nvSpPr>
        <p:spPr>
          <a:xfrm>
            <a:off x="838200" y="1800000"/>
            <a:ext cx="5100000" cy="27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70000" tIns="85000" rIns="170000" bIns="85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0E7490"/>
                </a:solidFill>
                <a:latin typeface="Inter"/>
                <a:cs typeface="Inter"/>
              </a:rPr>
              <a:t>WHY DETECTION FAILS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130" b="1" i="0" dirty="0">
                <a:solidFill>
                  <a:srgbClr val="1F1A14"/>
                </a:solidFill>
                <a:latin typeface="Inter"/>
                <a:cs typeface="Inter"/>
              </a:rPr>
              <a:t>Authorized access  —  </a:t>
            </a:r>
            <a:r>
              <a:rPr lang="en-US" sz="1130" b="0" i="0" dirty="0">
                <a:solidFill>
                  <a:srgbClr val="63553F"/>
                </a:solidFill>
                <a:latin typeface="Inter"/>
                <a:cs typeface="Inter"/>
              </a:rPr>
              <a:t>Insiders hold valid credentials — no perimeter is crossed.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130" b="1" i="0" dirty="0">
                <a:solidFill>
                  <a:srgbClr val="1F1A14"/>
                </a:solidFill>
                <a:latin typeface="Inter"/>
                <a:cs typeface="Inter"/>
              </a:rPr>
              <a:t>Privilege abuse  —  </a:t>
            </a:r>
            <a:r>
              <a:rPr lang="en-US" sz="1130" b="0" i="0" dirty="0">
                <a:solidFill>
                  <a:srgbClr val="63553F"/>
                </a:solidFill>
                <a:latin typeface="Inter"/>
                <a:cs typeface="Inter"/>
              </a:rPr>
              <a:t>Permissions granted for the job can reach sensitive data.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130" b="1" i="0" dirty="0">
                <a:solidFill>
                  <a:srgbClr val="1F1A14"/>
                </a:solidFill>
                <a:latin typeface="Inter"/>
                <a:cs typeface="Inter"/>
              </a:rPr>
              <a:t>Compromised accounts  —  </a:t>
            </a:r>
            <a:r>
              <a:rPr lang="en-US" sz="1130" b="0" i="0" dirty="0">
                <a:solidFill>
                  <a:srgbClr val="63553F"/>
                </a:solidFill>
                <a:latin typeface="Inter"/>
                <a:cs typeface="Inter"/>
              </a:rPr>
              <a:t>A hijacked account behaves like its owner for a while.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130" b="1" i="0" dirty="0">
                <a:solidFill>
                  <a:srgbClr val="1F1A14"/>
                </a:solidFill>
                <a:latin typeface="Inter"/>
                <a:cs typeface="Inter"/>
              </a:rPr>
              <a:t>Gradual exfiltration  —  </a:t>
            </a:r>
            <a:r>
              <a:rPr lang="en-US" sz="1130" b="0" i="0" dirty="0">
                <a:solidFill>
                  <a:srgbClr val="63553F"/>
                </a:solidFill>
                <a:latin typeface="Inter"/>
                <a:cs typeface="Inter"/>
              </a:rPr>
              <a:t>Theft spread over weeks stays under per-event thresholds.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130" b="1" i="0" dirty="0">
                <a:solidFill>
                  <a:srgbClr val="1F1A14"/>
                </a:solidFill>
                <a:latin typeface="Inter"/>
                <a:cs typeface="Inter"/>
              </a:rPr>
              <a:t>Alert flooding  —  </a:t>
            </a:r>
            <a:r>
              <a:rPr lang="en-US" sz="1130" b="0" i="0" dirty="0">
                <a:solidFill>
                  <a:srgbClr val="63553F"/>
                </a:solidFill>
                <a:latin typeface="Inter"/>
                <a:cs typeface="Inter"/>
              </a:rPr>
              <a:t>Static rules fire on rare-but-legitimate events, not real intent.</a:t>
            </a:r>
          </a:p>
          <a:p>
            <a:pPr algn="l">
              <a:lnSpc>
                <a:spcPct val="100000"/>
              </a:lnSpc>
              <a:spcBef>
                <a:spcPts val="300"/>
              </a:spcBef>
            </a:pPr>
            <a:r>
              <a:rPr lang="en-US" sz="1130" b="1" i="0" dirty="0">
                <a:solidFill>
                  <a:srgbClr val="1F1A14"/>
                </a:solidFill>
                <a:latin typeface="Inter"/>
                <a:cs typeface="Inter"/>
              </a:rPr>
              <a:t>Manual review  —  </a:t>
            </a:r>
            <a:r>
              <a:rPr lang="en-US" sz="1130" b="0" i="0" dirty="0">
                <a:solidFill>
                  <a:srgbClr val="63553F"/>
                </a:solidFill>
                <a:latin typeface="Inter"/>
                <a:cs typeface="Inter"/>
              </a:rPr>
              <a:t>No team can hand-baseline thousands of identities.</a:t>
            </a:r>
          </a:p>
        </p:txBody>
      </p:sp>
      <p:sp>
        <p:nvSpPr>
          <p:cNvPr id="21" name="Shape 21"/>
          <p:cNvSpPr/>
          <p:nvPr/>
        </p:nvSpPr>
        <p:spPr>
          <a:xfrm>
            <a:off x="6138200" y="1800000"/>
            <a:ext cx="5215600" cy="13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66534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60000" tIns="80000" rIns="160000" bIns="80000">
            <a:normAutofit/>
          </a:bodyPr>
          <a:lstStyle/>
          <a:p>
            <a:pPr algn="l"/>
            <a:r>
              <a:rPr lang="en-US" sz="1000" b="1" i="0" dirty="0">
                <a:solidFill>
                  <a:srgbClr val="166534"/>
                </a:solidFill>
                <a:latin typeface="Inter"/>
                <a:cs typeface="Inter"/>
              </a:rPr>
              <a:t>NORMAL USER</a:t>
            </a:r>
            <a:r>
              <a:rPr lang="en-US" sz="930" b="0" i="0" dirty="0">
                <a:solidFill>
                  <a:srgbClr val="7C6A4E"/>
                </a:solidFill>
                <a:latin typeface="Inter"/>
                <a:cs typeface="Inter"/>
              </a:rPr>
              <a:t>      consistent with baseline + peer group</a:t>
            </a:r>
          </a:p>
          <a:p>
            <a:pPr algn="l">
              <a:spcBef>
                <a:spcPts val="165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Sign-in window   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09:15 ± 45 min</a:t>
            </a:r>
          </a:p>
          <a:p>
            <a:pPr algn="l">
              <a:spcBef>
                <a:spcPts val="165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Sensitive files / day   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1–3</a:t>
            </a:r>
          </a:p>
          <a:p>
            <a:pPr algn="l">
              <a:spcBef>
                <a:spcPts val="165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Data leaving the org   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2–5 MB</a:t>
            </a:r>
          </a:p>
          <a:p>
            <a:pPr algn="l">
              <a:spcBef>
                <a:spcPts val="165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Peer deviation   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within baseline</a:t>
            </a:r>
          </a:p>
        </p:txBody>
      </p:sp>
      <p:sp>
        <p:nvSpPr>
          <p:cNvPr id="22" name="Shape 22"/>
          <p:cNvSpPr/>
          <p:nvPr/>
        </p:nvSpPr>
        <p:spPr>
          <a:xfrm>
            <a:off x="6138200" y="3250000"/>
            <a:ext cx="5215600" cy="131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1239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60000" tIns="80000" rIns="160000" bIns="80000">
            <a:normAutofit/>
          </a:bodyPr>
          <a:lstStyle/>
          <a:p>
            <a:pPr algn="l"/>
            <a:r>
              <a:rPr lang="en-US" sz="1000" b="1" i="0" dirty="0">
                <a:solidFill>
                  <a:srgbClr val="9F1239"/>
                </a:solidFill>
                <a:latin typeface="Inter"/>
                <a:cs typeface="Inter"/>
              </a:rPr>
              <a:t>SUSPICIOUS USER</a:t>
            </a:r>
            <a:r>
              <a:rPr lang="en-US" sz="930" b="0" i="0" dirty="0">
                <a:solidFill>
                  <a:srgbClr val="7C6A4E"/>
                </a:solidFill>
                <a:latin typeface="Inter"/>
                <a:cs typeface="Inter"/>
              </a:rPr>
              <a:t>      deviates on 4 signals at once</a:t>
            </a:r>
          </a:p>
          <a:p>
            <a:pPr algn="l">
              <a:spcBef>
                <a:spcPts val="165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Sign-in window   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03:41, 4 of 5 days</a:t>
            </a:r>
          </a:p>
          <a:p>
            <a:pPr algn="l">
              <a:spcBef>
                <a:spcPts val="165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Sensitive files / day   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27</a:t>
            </a:r>
          </a:p>
          <a:p>
            <a:pPr algn="l">
              <a:spcBef>
                <a:spcPts val="165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Data leaving the org   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412 MB</a:t>
            </a:r>
          </a:p>
          <a:p>
            <a:pPr algn="l">
              <a:spcBef>
                <a:spcPts val="165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Peer deviation   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+3.8 σ</a:t>
            </a:r>
          </a:p>
        </p:txBody>
      </p:sp>
      <p:sp>
        <p:nvSpPr>
          <p:cNvPr id="23" name="Shape 23"/>
          <p:cNvSpPr/>
          <p:nvPr/>
        </p:nvSpPr>
        <p:spPr>
          <a:xfrm>
            <a:off x="838200" y="4720000"/>
            <a:ext cx="10515600" cy="90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200000" tIns="100000" rIns="200000" bIns="100000">
            <a:normAutofit/>
          </a:bodyPr>
          <a:lstStyle/>
          <a:p>
            <a:pPr algn="ctr"/>
            <a:r>
              <a:rPr lang="en-US" sz="1450" b="0" i="0" dirty="0">
                <a:solidFill>
                  <a:srgbClr val="63553F"/>
                </a:solidFill>
                <a:latin typeface="Inter"/>
                <a:cs typeface="Inter"/>
              </a:rPr>
              <a:t>How can an organization distinguish </a:t>
            </a:r>
            <a:r>
              <a:rPr lang="en-US" sz="1450" b="1" i="0" dirty="0">
                <a:solidFill>
                  <a:srgbClr val="166534"/>
                </a:solidFill>
                <a:latin typeface="Inter"/>
                <a:cs typeface="Inter"/>
              </a:rPr>
              <a:t>legitimate employee behavior</a:t>
            </a:r>
            <a:r>
              <a:rPr lang="en-US" sz="1450" b="0" i="0" dirty="0">
                <a:solidFill>
                  <a:srgbClr val="63553F"/>
                </a:solidFill>
                <a:latin typeface="Inter"/>
                <a:cs typeface="Inter"/>
              </a:rPr>
              <a:t> from </a:t>
            </a:r>
            <a:r>
              <a:rPr lang="en-US" sz="1450" b="1" i="0" dirty="0">
                <a:solidFill>
                  <a:srgbClr val="9F1239"/>
                </a:solidFill>
                <a:latin typeface="Inter"/>
                <a:cs typeface="Inter"/>
              </a:rPr>
              <a:t>potentially dangerous behavioral deviations</a:t>
            </a:r>
            <a:r>
              <a:rPr lang="en-US" sz="1450" b="0" i="0" dirty="0">
                <a:solidFill>
                  <a:srgbClr val="63553F"/>
                </a:solidFill>
                <a:latin typeface="Inter"/>
                <a:cs typeface="Inter"/>
              </a:rPr>
              <a:t>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653800" y="40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200" b="1" i="0" dirty="0">
                <a:solidFill>
                  <a:srgbClr val="EBDFC8"/>
                </a:solidFill>
                <a:latin typeface="Inter"/>
                <a:cs typeface="Inter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8200" y="600000"/>
            <a:ext cx="10515600" cy="2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7C6A4E"/>
                </a:solidFill>
                <a:latin typeface="Inter"/>
                <a:cs typeface="Inter"/>
              </a:rPr>
              <a:t>THREAT MODEL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" y="860000"/>
            <a:ext cx="105156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2650" b="1" i="0" dirty="0">
                <a:solidFill>
                  <a:srgbClr val="1F1A14"/>
                </a:solidFill>
                <a:latin typeface="Inter"/>
                <a:cs typeface="Inter"/>
              </a:rPr>
              <a:t>The Three Insider Threat Categories</a:t>
            </a:r>
          </a:p>
        </p:txBody>
      </p:sp>
      <p:sp>
        <p:nvSpPr>
          <p:cNvPr id="17" name="Shape 17"/>
          <p:cNvSpPr/>
          <p:nvPr/>
        </p:nvSpPr>
        <p:spPr>
          <a:xfrm>
            <a:off x="838200" y="1530000"/>
            <a:ext cx="600000" cy="28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38200" y="6200000"/>
            <a:ext cx="74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Insider Threat Detection System  ·  AI-Powered Behavioral Analytics for Enterprise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53800" y="6200000"/>
            <a:ext cx="9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3 / 10</a:t>
            </a:r>
          </a:p>
        </p:txBody>
      </p:sp>
      <p:sp>
        <p:nvSpPr>
          <p:cNvPr id="20" name="Shape 20"/>
          <p:cNvSpPr/>
          <p:nvPr/>
        </p:nvSpPr>
        <p:spPr>
          <a:xfrm>
            <a:off x="838200" y="1800000"/>
            <a:ext cx="3398533" cy="1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70000" tIns="85000" rIns="170000" bIns="85000">
            <a:normAutofit/>
          </a:bodyPr>
          <a:lstStyle/>
          <a:p>
            <a:pPr algn="l"/>
            <a:r>
              <a:rPr lang="en-US" sz="1150" b="1" i="0" dirty="0">
                <a:solidFill>
                  <a:srgbClr val="0E7490"/>
                </a:solidFill>
                <a:latin typeface="Inter"/>
                <a:cs typeface="Inter"/>
              </a:rPr>
              <a:t>01   </a:t>
            </a:r>
            <a:r>
              <a:rPr lang="en-US" sz="1350" b="1" i="0" dirty="0">
                <a:solidFill>
                  <a:srgbClr val="1F1A14"/>
                </a:solidFill>
                <a:latin typeface="Inter"/>
                <a:cs typeface="Inter"/>
              </a:rPr>
              <a:t>Malicious Insider</a:t>
            </a:r>
          </a:p>
          <a:p>
            <a:pPr algn="l">
              <a:lnSpc>
                <a:spcPct val="104000"/>
              </a:lnSpc>
              <a:spcBef>
                <a:spcPts val="380"/>
              </a:spcBef>
            </a:pPr>
            <a:r>
              <a:rPr lang="en-US" sz="1050" b="0" i="0" dirty="0">
                <a:solidFill>
                  <a:srgbClr val="63553F"/>
                </a:solidFill>
                <a:latin typeface="Inter"/>
                <a:cs typeface="Inter"/>
              </a:rPr>
              <a:t>A trusted employee who deliberately steals data, sabotages systems or sells access.</a:t>
            </a:r>
          </a:p>
          <a:p>
            <a:pPr algn="l">
              <a:lnSpc>
                <a:spcPct val="104000"/>
              </a:lnSpc>
              <a:spcBef>
                <a:spcPts val="330"/>
              </a:spcBef>
            </a:pPr>
            <a:r>
              <a:rPr lang="en-US" sz="1000" b="0" i="0" dirty="0">
                <a:solidFill>
                  <a:srgbClr val="7C6A4E"/>
                </a:solidFill>
                <a:latin typeface="Inter"/>
                <a:cs typeface="Inter"/>
              </a:rPr>
              <a:t>Example: bulk download of finance records at 03:00, then upload to personal cloud.</a:t>
            </a:r>
          </a:p>
          <a:p>
            <a:pPr algn="l">
              <a:lnSpc>
                <a:spcPct val="104000"/>
              </a:lnSpc>
              <a:spcBef>
                <a:spcPts val="330"/>
              </a:spcBef>
            </a:pPr>
            <a:r>
              <a:rPr lang="en-US" sz="1000" b="1" i="0" dirty="0">
                <a:solidFill>
                  <a:srgbClr val="63553F"/>
                </a:solidFill>
                <a:latin typeface="Inter"/>
                <a:cs typeface="Inter"/>
              </a:rPr>
              <a:t>Impact: data breach, fraud, IP loss, regulatory penalties.</a:t>
            </a:r>
          </a:p>
        </p:txBody>
      </p:sp>
      <p:sp>
        <p:nvSpPr>
          <p:cNvPr id="21" name="Shape 21"/>
          <p:cNvSpPr/>
          <p:nvPr/>
        </p:nvSpPr>
        <p:spPr>
          <a:xfrm>
            <a:off x="4396733" y="1800000"/>
            <a:ext cx="3398533" cy="1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8A5406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70000" tIns="85000" rIns="170000" bIns="85000">
            <a:normAutofit/>
          </a:bodyPr>
          <a:lstStyle/>
          <a:p>
            <a:pPr algn="l"/>
            <a:r>
              <a:rPr lang="en-US" sz="1150" b="1" i="0" dirty="0">
                <a:solidFill>
                  <a:srgbClr val="8A5406"/>
                </a:solidFill>
                <a:latin typeface="Inter"/>
                <a:cs typeface="Inter"/>
              </a:rPr>
              <a:t>02   </a:t>
            </a:r>
            <a:r>
              <a:rPr lang="en-US" sz="1350" b="1" i="0" dirty="0">
                <a:solidFill>
                  <a:srgbClr val="1F1A14"/>
                </a:solidFill>
                <a:latin typeface="Inter"/>
                <a:cs typeface="Inter"/>
              </a:rPr>
              <a:t>Negligent Insider</a:t>
            </a:r>
          </a:p>
          <a:p>
            <a:pPr algn="l">
              <a:lnSpc>
                <a:spcPct val="104000"/>
              </a:lnSpc>
              <a:spcBef>
                <a:spcPts val="380"/>
              </a:spcBef>
            </a:pPr>
            <a:r>
              <a:rPr lang="en-US" sz="1050" b="0" i="0" dirty="0">
                <a:solidFill>
                  <a:srgbClr val="63553F"/>
                </a:solidFill>
                <a:latin typeface="Inter"/>
                <a:cs typeface="Inter"/>
              </a:rPr>
              <a:t>An employee who weakens security through carelessness rather than intent.</a:t>
            </a:r>
          </a:p>
          <a:p>
            <a:pPr algn="l">
              <a:lnSpc>
                <a:spcPct val="104000"/>
              </a:lnSpc>
              <a:spcBef>
                <a:spcPts val="330"/>
              </a:spcBef>
            </a:pPr>
            <a:r>
              <a:rPr lang="en-US" sz="1000" b="0" i="0" dirty="0">
                <a:solidFill>
                  <a:srgbClr val="7C6A4E"/>
                </a:solidFill>
                <a:latin typeface="Inter"/>
                <a:cs typeface="Inter"/>
              </a:rPr>
              <a:t>Example: disabling endpoint protection, sharing credentials, USB use for work files.</a:t>
            </a:r>
          </a:p>
          <a:p>
            <a:pPr algn="l">
              <a:lnSpc>
                <a:spcPct val="104000"/>
              </a:lnSpc>
              <a:spcBef>
                <a:spcPts val="330"/>
              </a:spcBef>
            </a:pPr>
            <a:r>
              <a:rPr lang="en-US" sz="1000" b="1" i="0" dirty="0">
                <a:solidFill>
                  <a:srgbClr val="63553F"/>
                </a:solidFill>
                <a:latin typeface="Inter"/>
                <a:cs typeface="Inter"/>
              </a:rPr>
              <a:t>Impact: exposure of sensitive data, malware entry, audit failures.</a:t>
            </a:r>
          </a:p>
        </p:txBody>
      </p:sp>
      <p:sp>
        <p:nvSpPr>
          <p:cNvPr id="22" name="Shape 22"/>
          <p:cNvSpPr/>
          <p:nvPr/>
        </p:nvSpPr>
        <p:spPr>
          <a:xfrm>
            <a:off x="7955266" y="1800000"/>
            <a:ext cx="3398533" cy="1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9F1239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70000" tIns="85000" rIns="170000" bIns="85000">
            <a:normAutofit/>
          </a:bodyPr>
          <a:lstStyle/>
          <a:p>
            <a:pPr algn="l"/>
            <a:r>
              <a:rPr lang="en-US" sz="1150" b="1" i="0" dirty="0">
                <a:solidFill>
                  <a:srgbClr val="9F1239"/>
                </a:solidFill>
                <a:latin typeface="Inter"/>
                <a:cs typeface="Inter"/>
              </a:rPr>
              <a:t>03   </a:t>
            </a:r>
            <a:r>
              <a:rPr lang="en-US" sz="1350" b="1" i="0" dirty="0">
                <a:solidFill>
                  <a:srgbClr val="1F1A14"/>
                </a:solidFill>
                <a:latin typeface="Inter"/>
                <a:cs typeface="Inter"/>
              </a:rPr>
              <a:t>Compromised Account</a:t>
            </a:r>
          </a:p>
          <a:p>
            <a:pPr algn="l">
              <a:lnSpc>
                <a:spcPct val="104000"/>
              </a:lnSpc>
              <a:spcBef>
                <a:spcPts val="380"/>
              </a:spcBef>
            </a:pPr>
            <a:r>
              <a:rPr lang="en-US" sz="1050" b="0" i="0" dirty="0">
                <a:solidFill>
                  <a:srgbClr val="63553F"/>
                </a:solidFill>
                <a:latin typeface="Inter"/>
                <a:cs typeface="Inter"/>
              </a:rPr>
              <a:t>An attacker operating a real user's session, so activity looks partly legitimate.</a:t>
            </a:r>
          </a:p>
          <a:p>
            <a:pPr algn="l">
              <a:lnSpc>
                <a:spcPct val="104000"/>
              </a:lnSpc>
              <a:spcBef>
                <a:spcPts val="330"/>
              </a:spcBef>
            </a:pPr>
            <a:r>
              <a:rPr lang="en-US" sz="1000" b="0" i="0" dirty="0">
                <a:solidFill>
                  <a:srgbClr val="7C6A4E"/>
                </a:solidFill>
                <a:latin typeface="Inter"/>
                <a:cs typeface="Inter"/>
              </a:rPr>
              <a:t>Example: impossible travel, new-device sign-in, then resource sweeping and lateral moves.</a:t>
            </a:r>
          </a:p>
          <a:p>
            <a:pPr algn="l">
              <a:lnSpc>
                <a:spcPct val="104000"/>
              </a:lnSpc>
              <a:spcBef>
                <a:spcPts val="330"/>
              </a:spcBef>
            </a:pPr>
            <a:r>
              <a:rPr lang="en-US" sz="1000" b="1" i="0" dirty="0">
                <a:solidFill>
                  <a:srgbClr val="63553F"/>
                </a:solidFill>
                <a:latin typeface="Inter"/>
                <a:cs typeface="Inter"/>
              </a:rPr>
              <a:t>Impact: privilege escalation, persistent access, large-scale exfiltration.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38200" y="3900000"/>
            <a:ext cx="10515600" cy="24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7C6A4E"/>
                </a:solidFill>
                <a:latin typeface="Inter"/>
                <a:cs typeface="Inter"/>
              </a:rPr>
              <a:t>BEHAVIORAL DETECTION FLOW</a:t>
            </a:r>
          </a:p>
        </p:txBody>
      </p:sp>
      <p:sp>
        <p:nvSpPr>
          <p:cNvPr id="31" name="Shape 31"/>
          <p:cNvSpPr/>
          <p:nvPr/>
        </p:nvSpPr>
        <p:spPr>
          <a:xfrm>
            <a:off x="838200" y="4160000"/>
            <a:ext cx="1943120" cy="8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Normal Behavior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2781320" y="4160000"/>
            <a:ext cx="200000" cy="8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2" name="Shape 32"/>
          <p:cNvSpPr/>
          <p:nvPr/>
        </p:nvSpPr>
        <p:spPr>
          <a:xfrm>
            <a:off x="2981320" y="4160000"/>
            <a:ext cx="1943120" cy="8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Behavioral Baseline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4924440" y="4160000"/>
            <a:ext cx="200000" cy="8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3" name="Shape 33"/>
          <p:cNvSpPr/>
          <p:nvPr/>
        </p:nvSpPr>
        <p:spPr>
          <a:xfrm>
            <a:off x="5124440" y="4160000"/>
            <a:ext cx="1943120" cy="8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Behavioral Deviation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7067560" y="4160000"/>
            <a:ext cx="200000" cy="8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4" name="Shape 34"/>
          <p:cNvSpPr/>
          <p:nvPr/>
        </p:nvSpPr>
        <p:spPr>
          <a:xfrm>
            <a:off x="7267560" y="4160000"/>
            <a:ext cx="1943120" cy="8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Risk Score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210680" y="4160000"/>
            <a:ext cx="200000" cy="8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35" name="Shape 35"/>
          <p:cNvSpPr/>
          <p:nvPr/>
        </p:nvSpPr>
        <p:spPr>
          <a:xfrm>
            <a:off x="9410680" y="4160000"/>
            <a:ext cx="1943120" cy="8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Security Alert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8200" y="5080000"/>
            <a:ext cx="10515600" cy="7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8000"/>
              </a:lnSpc>
            </a:pPr>
            <a:r>
              <a:rPr lang="en-US" sz="1120" b="0" i="0" dirty="0">
                <a:solidFill>
                  <a:srgbClr val="63553F"/>
                </a:solidFill>
                <a:latin typeface="Inter"/>
                <a:cs typeface="Inter"/>
              </a:rPr>
              <a:t>The baseline is per-identity and per-peer-group. A deviation is only meaningful relative to </a:t>
            </a:r>
            <a:r>
              <a:rPr lang="en-US" sz="1120" b="1" i="0" dirty="0">
                <a:solidFill>
                  <a:srgbClr val="1F1A14"/>
                </a:solidFill>
                <a:latin typeface="Inter"/>
                <a:cs typeface="Inter"/>
              </a:rPr>
              <a:t>what this user — and their peers — normally do</a:t>
            </a:r>
            <a:r>
              <a:rPr lang="en-US" sz="1120" b="0" i="0" dirty="0">
                <a:solidFill>
                  <a:srgbClr val="63553F"/>
                </a:solidFill>
                <a:latin typeface="Inter"/>
                <a:cs typeface="Inter"/>
              </a:rPr>
              <a:t>. That is why the system scores behavior instead of counting events.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653800" y="40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200" b="1" i="0" dirty="0">
                <a:solidFill>
                  <a:srgbClr val="EBDFC8"/>
                </a:solidFill>
                <a:latin typeface="Inter"/>
                <a:cs typeface="Inter"/>
              </a:rPr>
              <a:t>04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8200" y="600000"/>
            <a:ext cx="10515600" cy="2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7C6A4E"/>
                </a:solidFill>
                <a:latin typeface="Inter"/>
                <a:cs typeface="Inter"/>
              </a:rPr>
              <a:t>THE SOLUTION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" y="860000"/>
            <a:ext cx="105156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2650" b="1" i="0" dirty="0">
                <a:solidFill>
                  <a:srgbClr val="1F1A14"/>
                </a:solidFill>
                <a:latin typeface="Inter"/>
                <a:cs typeface="Inter"/>
              </a:rPr>
              <a:t>AI-Based Insider Threat Detection</a:t>
            </a:r>
          </a:p>
        </p:txBody>
      </p:sp>
      <p:sp>
        <p:nvSpPr>
          <p:cNvPr id="17" name="Shape 17"/>
          <p:cNvSpPr/>
          <p:nvPr/>
        </p:nvSpPr>
        <p:spPr>
          <a:xfrm>
            <a:off x="838200" y="1530000"/>
            <a:ext cx="600000" cy="28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38200" y="6200000"/>
            <a:ext cx="74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Insider Threat Detection System  ·  AI-Powered Behavioral Analytics for Enterprise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53800" y="6200000"/>
            <a:ext cx="9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4 / 10</a:t>
            </a:r>
          </a:p>
        </p:txBody>
      </p:sp>
      <p:sp>
        <p:nvSpPr>
          <p:cNvPr id="20" name="Shape 20"/>
          <p:cNvSpPr/>
          <p:nvPr/>
        </p:nvSpPr>
        <p:spPr>
          <a:xfrm>
            <a:off x="838200" y="1800000"/>
            <a:ext cx="195912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User Activity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797320" y="1800000"/>
            <a:ext cx="180000" cy="9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1" name="Shape 21"/>
          <p:cNvSpPr/>
          <p:nvPr/>
        </p:nvSpPr>
        <p:spPr>
          <a:xfrm>
            <a:off x="2977320" y="1800000"/>
            <a:ext cx="195912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Data Collection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936440" y="1800000"/>
            <a:ext cx="180000" cy="9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2" name="Shape 22"/>
          <p:cNvSpPr/>
          <p:nvPr/>
        </p:nvSpPr>
        <p:spPr>
          <a:xfrm>
            <a:off x="5116440" y="1800000"/>
            <a:ext cx="195912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Preprocessing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7075560" y="1800000"/>
            <a:ext cx="180000" cy="9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3" name="Shape 23"/>
          <p:cNvSpPr/>
          <p:nvPr/>
        </p:nvSpPr>
        <p:spPr>
          <a:xfrm>
            <a:off x="7255560" y="1800000"/>
            <a:ext cx="195912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Feature Engineering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214680" y="1800000"/>
            <a:ext cx="180000" cy="9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4" name="Shape 24"/>
          <p:cNvSpPr/>
          <p:nvPr/>
        </p:nvSpPr>
        <p:spPr>
          <a:xfrm>
            <a:off x="9394680" y="1800000"/>
            <a:ext cx="1959120" cy="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Machine Learning</a:t>
            </a:r>
          </a:p>
        </p:txBody>
      </p:sp>
      <p:sp>
        <p:nvSpPr>
          <p:cNvPr id="26" name="Shape 26"/>
          <p:cNvSpPr/>
          <p:nvPr/>
        </p:nvSpPr>
        <p:spPr>
          <a:xfrm>
            <a:off x="838200" y="2880000"/>
            <a:ext cx="2493900" cy="90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Behavioral Analysis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332100" y="2880000"/>
            <a:ext cx="180000" cy="9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7" name="Shape 27"/>
          <p:cNvSpPr/>
          <p:nvPr/>
        </p:nvSpPr>
        <p:spPr>
          <a:xfrm>
            <a:off x="3512100" y="2880000"/>
            <a:ext cx="2493900" cy="90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Risk Scoring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6006000" y="2880000"/>
            <a:ext cx="180000" cy="9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8" name="Shape 28"/>
          <p:cNvSpPr/>
          <p:nvPr/>
        </p:nvSpPr>
        <p:spPr>
          <a:xfrm>
            <a:off x="6186000" y="2880000"/>
            <a:ext cx="2493900" cy="90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Alert Generation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679900" y="2880000"/>
            <a:ext cx="180000" cy="9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9" name="Shape 29"/>
          <p:cNvSpPr/>
          <p:nvPr/>
        </p:nvSpPr>
        <p:spPr>
          <a:xfrm>
            <a:off x="8859900" y="2880000"/>
            <a:ext cx="2493900" cy="90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Security Dashboard</a:t>
            </a:r>
          </a:p>
        </p:txBody>
      </p:sp>
      <p:sp>
        <p:nvSpPr>
          <p:cNvPr id="30" name="Shape 30"/>
          <p:cNvSpPr/>
          <p:nvPr/>
        </p:nvSpPr>
        <p:spPr>
          <a:xfrm>
            <a:off x="838200" y="3960000"/>
            <a:ext cx="2516400" cy="13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50000" tIns="75000" rIns="150000" bIns="75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0E7490"/>
                </a:solidFill>
                <a:latin typeface="Inter"/>
                <a:cs typeface="Inter"/>
              </a:rPr>
              <a:t>1 · COLLECTION &amp; FEATURES</a:t>
            </a:r>
          </a:p>
          <a:p>
            <a:pPr algn="l">
              <a:lnSpc>
                <a:spcPct val="102000"/>
              </a:lnSpc>
              <a:spcBef>
                <a:spcPts val="280"/>
              </a:spcBef>
            </a:pPr>
            <a:r>
              <a:rPr lang="en-US" sz="980" b="0" i="0" dirty="0">
                <a:solidFill>
                  <a:srgbClr val="63553F"/>
                </a:solidFill>
                <a:latin typeface="Inter"/>
                <a:cs typeface="Inter"/>
              </a:rPr>
              <a:t>Behavioural windows are aggregated per identity and reduced to 23 raw features covering timing, volume, privilege and data movement.</a:t>
            </a:r>
          </a:p>
        </p:txBody>
      </p:sp>
      <p:sp>
        <p:nvSpPr>
          <p:cNvPr id="31" name="Shape 31"/>
          <p:cNvSpPr/>
          <p:nvPr/>
        </p:nvSpPr>
        <p:spPr>
          <a:xfrm>
            <a:off x="3504600" y="3960000"/>
            <a:ext cx="2516400" cy="13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50000" tIns="75000" rIns="150000" bIns="75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0E7490"/>
                </a:solidFill>
                <a:latin typeface="Inter"/>
                <a:cs typeface="Inter"/>
              </a:rPr>
              <a:t>2 · MACHINE LEARNING</a:t>
            </a:r>
          </a:p>
          <a:p>
            <a:pPr algn="l">
              <a:lnSpc>
                <a:spcPct val="102000"/>
              </a:lnSpc>
              <a:spcBef>
                <a:spcPts val="280"/>
              </a:spcBef>
            </a:pPr>
            <a:r>
              <a:rPr lang="en-US" sz="980" b="0" i="0" dirty="0">
                <a:solidFill>
                  <a:srgbClr val="63553F"/>
                </a:solidFill>
                <a:latin typeface="Inter"/>
                <a:cs typeface="Inter"/>
              </a:rPr>
              <a:t>Two classifiers are trained on the same preprocessed matrix; the better F1 score is promoted to the serving artifact.</a:t>
            </a:r>
          </a:p>
        </p:txBody>
      </p:sp>
      <p:sp>
        <p:nvSpPr>
          <p:cNvPr id="32" name="Shape 32"/>
          <p:cNvSpPr/>
          <p:nvPr/>
        </p:nvSpPr>
        <p:spPr>
          <a:xfrm>
            <a:off x="6171000" y="3960000"/>
            <a:ext cx="2516400" cy="13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50000" tIns="75000" rIns="150000" bIns="75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0E7490"/>
                </a:solidFill>
                <a:latin typeface="Inter"/>
                <a:cs typeface="Inter"/>
              </a:rPr>
              <a:t>3 · ANALYSIS &amp; SCORING</a:t>
            </a:r>
          </a:p>
          <a:p>
            <a:pPr algn="l">
              <a:lnSpc>
                <a:spcPct val="102000"/>
              </a:lnSpc>
              <a:spcBef>
                <a:spcPts val="280"/>
              </a:spcBef>
            </a:pPr>
            <a:r>
              <a:rPr lang="en-US" sz="980" b="0" i="0" dirty="0">
                <a:solidFill>
                  <a:srgbClr val="63553F"/>
                </a:solidFill>
                <a:latin typeface="Inter"/>
                <a:cs typeface="Inter"/>
              </a:rPr>
              <a:t>Probability is combined with behavioural, asset and privilege context into a 0–100 score banded LOW → CRITICAL.</a:t>
            </a:r>
          </a:p>
        </p:txBody>
      </p:sp>
      <p:sp>
        <p:nvSpPr>
          <p:cNvPr id="33" name="Shape 33"/>
          <p:cNvSpPr/>
          <p:nvPr/>
        </p:nvSpPr>
        <p:spPr>
          <a:xfrm>
            <a:off x="8837400" y="3960000"/>
            <a:ext cx="2516400" cy="13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50000" tIns="75000" rIns="150000" bIns="75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0E7490"/>
                </a:solidFill>
                <a:latin typeface="Inter"/>
                <a:cs typeface="Inter"/>
              </a:rPr>
              <a:t>4 · ALERTS &amp; DASHBOARD</a:t>
            </a:r>
          </a:p>
          <a:p>
            <a:pPr algn="l">
              <a:lnSpc>
                <a:spcPct val="102000"/>
              </a:lnSpc>
              <a:spcBef>
                <a:spcPts val="280"/>
              </a:spcBef>
            </a:pPr>
            <a:r>
              <a:rPr lang="en-US" sz="980" b="0" i="0" dirty="0">
                <a:solidFill>
                  <a:srgbClr val="63553F"/>
                </a:solidFill>
                <a:latin typeface="Inter"/>
                <a:cs typeface="Inter"/>
              </a:rPr>
              <a:t>Eight deterministic rules name the behaviour, and the analyst sees queue, timeline, model insights and policies.</a:t>
            </a:r>
          </a:p>
        </p:txBody>
      </p:sp>
      <p:sp>
        <p:nvSpPr>
          <p:cNvPr id="35" name="Shape 35"/>
          <p:cNvSpPr/>
          <p:nvPr/>
        </p:nvSpPr>
        <p:spPr>
          <a:xfrm>
            <a:off x="838200" y="5380000"/>
            <a:ext cx="10515600" cy="54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C2410C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80000" tIns="90000" rIns="180000" bIns="90000">
            <a:normAutofit/>
          </a:bodyPr>
          <a:lstStyle/>
          <a:p>
            <a:pPr algn="ctr"/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Behavioral patterns, not just access permissions: </a:t>
            </a:r>
            <a:r>
              <a:rPr lang="en-US" sz="1150" b="0" i="0" dirty="0">
                <a:solidFill>
                  <a:srgbClr val="63553F"/>
                </a:solidFill>
                <a:latin typeface="Inter"/>
                <a:cs typeface="Inter"/>
              </a:rPr>
              <a:t>two users with identical entitlements receive different risk scores, because the score reflects what they do with those entitlements.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653800" y="40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200" b="1" i="0" dirty="0">
                <a:solidFill>
                  <a:srgbClr val="EBDFC8"/>
                </a:solidFill>
                <a:latin typeface="Inter"/>
                <a:cs typeface="Inter"/>
              </a:rPr>
              <a:t>05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8200" y="600000"/>
            <a:ext cx="10515600" cy="2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7C6A4E"/>
                </a:solidFill>
                <a:latin typeface="Inter"/>
                <a:cs typeface="Inter"/>
              </a:rPr>
              <a:t>DATA FOUNDATION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" y="860000"/>
            <a:ext cx="105156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2650" b="1" i="0" dirty="0">
                <a:solidFill>
                  <a:srgbClr val="1F1A14"/>
                </a:solidFill>
                <a:latin typeface="Inter"/>
                <a:cs typeface="Inter"/>
              </a:rPr>
              <a:t>Dataset &amp; Feature Engineering</a:t>
            </a:r>
          </a:p>
        </p:txBody>
      </p:sp>
      <p:sp>
        <p:nvSpPr>
          <p:cNvPr id="17" name="Shape 17"/>
          <p:cNvSpPr/>
          <p:nvPr/>
        </p:nvSpPr>
        <p:spPr>
          <a:xfrm>
            <a:off x="838200" y="1530000"/>
            <a:ext cx="600000" cy="28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38200" y="6200000"/>
            <a:ext cx="74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Insider Threat Detection System  ·  AI-Powered Behavioral Analytics for Enterprise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53800" y="6200000"/>
            <a:ext cx="9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5 / 10</a:t>
            </a:r>
          </a:p>
        </p:txBody>
      </p:sp>
      <p:sp>
        <p:nvSpPr>
          <p:cNvPr id="20" name="Shape 20"/>
          <p:cNvSpPr/>
          <p:nvPr/>
        </p:nvSpPr>
        <p:spPr>
          <a:xfrm>
            <a:off x="838200" y="1800000"/>
            <a:ext cx="5100000" cy="1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70000" tIns="85000" rIns="170000" bIns="85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0E7490"/>
                </a:solidFill>
                <a:latin typeface="Inter"/>
                <a:cs typeface="Inter"/>
              </a:rPr>
              <a:t>THE DATASET</a:t>
            </a:r>
          </a:p>
          <a:p>
            <a:pPr algn="l">
              <a:spcBef>
                <a:spcPts val="300"/>
              </a:spcBef>
            </a:pPr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sentinel_ueba_synthetic_raw.csv</a:t>
            </a:r>
          </a:p>
          <a:p>
            <a:pPr algn="l">
              <a:lnSpc>
                <a:spcPct val="102000"/>
              </a:lnSpc>
              <a:spcBef>
                <a:spcPts val="260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Purpose-built synthetic behavioural dataset — generated by the project itself, so no real security telemetry is involved.</a:t>
            </a:r>
          </a:p>
          <a:p>
            <a:pPr algn="l">
              <a:spcBef>
                <a:spcPts val="300"/>
              </a:spcBef>
            </a:pP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10,000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 behavioural windows   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26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 columns   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8.0%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 threat rate</a:t>
            </a:r>
          </a:p>
          <a:p>
            <a:pPr algn="l">
              <a:spcBef>
                <a:spcPts val="220"/>
              </a:spcBef>
            </a:pP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800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 threat windows /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9,200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 normal   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seed 42</a:t>
            </a:r>
          </a:p>
          <a:p>
            <a:pPr algn="l">
              <a:spcBef>
                <a:spcPts val="220"/>
              </a:spcBef>
            </a:pPr>
            <a:r>
              <a:rPr lang="en-US" sz="1000" b="0" i="0" dirty="0">
                <a:solidFill>
                  <a:srgbClr val="7C6A4E"/>
                </a:solidFill>
                <a:latin typeface="Inter"/>
                <a:cs typeface="Inter"/>
              </a:rPr>
              <a:t>Split   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8,000 train / 2,000 test</a:t>
            </a:r>
            <a:r>
              <a:rPr lang="en-US" sz="1000" b="0" i="0" dirty="0">
                <a:solidFill>
                  <a:srgbClr val="7C6A4E"/>
                </a:solidFill>
                <a:latin typeface="Inter"/>
                <a:cs typeface="Inter"/>
              </a:rPr>
              <a:t>      Label   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insider_threat  (0 / 1)</a:t>
            </a:r>
          </a:p>
        </p:txBody>
      </p:sp>
      <p:sp>
        <p:nvSpPr>
          <p:cNvPr id="21" name="Shape 21"/>
          <p:cNvSpPr/>
          <p:nvPr/>
        </p:nvSpPr>
        <p:spPr>
          <a:xfrm>
            <a:off x="6138200" y="1800000"/>
            <a:ext cx="5215600" cy="19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60000" tIns="80000" rIns="160000" bIns="80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0E7490"/>
                </a:solidFill>
                <a:latin typeface="Inter"/>
                <a:cs typeface="Inter"/>
              </a:rPr>
              <a:t>RAW LOGS → MODEL-READY DATA</a:t>
            </a:r>
          </a:p>
          <a:p>
            <a:pPr algn="l">
              <a:spcBef>
                <a:spcPts val="20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1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Data cleaning</a:t>
            </a:r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   median imputation for gaps, schema + duplicate-id checks</a:t>
            </a:r>
          </a:p>
          <a:p>
            <a:pPr algn="l">
              <a:spcBef>
                <a:spcPts val="20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2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Feature extraction</a:t>
            </a:r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   20 numeric + 3 categorical behavioural features</a:t>
            </a:r>
          </a:p>
          <a:p>
            <a:pPr algn="l">
              <a:spcBef>
                <a:spcPts val="20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3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Normalization</a:t>
            </a:r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   log1p on 8 skewed features, then standard scaling</a:t>
            </a:r>
          </a:p>
          <a:p>
            <a:pPr algn="l">
              <a:spcBef>
                <a:spcPts val="20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4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Encoding</a:t>
            </a:r>
            <a:r>
              <a:rPr lang="en-US" sz="950" b="0" i="0" dirty="0">
                <a:solidFill>
                  <a:srgbClr val="7C6A4E"/>
                </a:solidFill>
                <a:latin typeface="Inter"/>
                <a:cs typeface="Inter"/>
              </a:rPr>
              <a:t>   one-hot for department, role, account_type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8200" y="3840000"/>
            <a:ext cx="10515600" cy="24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7C6A4E"/>
                </a:solidFill>
                <a:latin typeface="Inter"/>
                <a:cs typeface="Inter"/>
              </a:rPr>
              <a:t>FEATURE FAMILIES — 23 RAW FEATURES BECOME 42 MODEL COLUMNS</a:t>
            </a:r>
          </a:p>
        </p:txBody>
      </p:sp>
      <p:sp>
        <p:nvSpPr>
          <p:cNvPr id="30" name="Shape 30"/>
          <p:cNvSpPr/>
          <p:nvPr/>
        </p:nvSpPr>
        <p:spPr>
          <a:xfrm>
            <a:off x="838200" y="4100000"/>
            <a:ext cx="3405200" cy="44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l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Authentication</a:t>
            </a:r>
          </a:p>
          <a:p>
            <a:pPr algn="l">
              <a:lnSpc>
                <a:spcPct val="98000"/>
              </a:lnSpc>
              <a:spcBef>
                <a:spcPts val="17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login_count_7d · failed_login_rate · session_duration_mean_min</a:t>
            </a:r>
          </a:p>
        </p:txBody>
      </p:sp>
      <p:sp>
        <p:nvSpPr>
          <p:cNvPr id="31" name="Shape 31"/>
          <p:cNvSpPr/>
          <p:nvPr/>
        </p:nvSpPr>
        <p:spPr>
          <a:xfrm>
            <a:off x="4393400" y="4100000"/>
            <a:ext cx="3405200" cy="44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l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Timing / off-hours</a:t>
            </a:r>
          </a:p>
          <a:p>
            <a:pPr algn="l">
              <a:lnSpc>
                <a:spcPct val="98000"/>
              </a:lnSpc>
              <a:spcBef>
                <a:spcPts val="17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off_hours_ratio · weekend_ratio · after_hours_sensitive_access</a:t>
            </a:r>
          </a:p>
        </p:txBody>
      </p:sp>
      <p:sp>
        <p:nvSpPr>
          <p:cNvPr id="32" name="Shape 32"/>
          <p:cNvSpPr/>
          <p:nvPr/>
        </p:nvSpPr>
        <p:spPr>
          <a:xfrm>
            <a:off x="7948600" y="4100000"/>
            <a:ext cx="3405200" cy="44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l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Data access</a:t>
            </a:r>
          </a:p>
          <a:p>
            <a:pPr algn="l">
              <a:lnSpc>
                <a:spcPct val="98000"/>
              </a:lnSpc>
              <a:spcBef>
                <a:spcPts val="17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sensitive_file_access · asset_criticality</a:t>
            </a:r>
          </a:p>
        </p:txBody>
      </p:sp>
      <p:sp>
        <p:nvSpPr>
          <p:cNvPr id="33" name="Shape 33"/>
          <p:cNvSpPr/>
          <p:nvPr/>
        </p:nvSpPr>
        <p:spPr>
          <a:xfrm>
            <a:off x="838200" y="4600000"/>
            <a:ext cx="3405200" cy="44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l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Exfiltration</a:t>
            </a:r>
          </a:p>
          <a:p>
            <a:pPr algn="l">
              <a:lnSpc>
                <a:spcPct val="98000"/>
              </a:lnSpc>
              <a:spcBef>
                <a:spcPts val="17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external_transfer_mb · cloud_upload_mb · email_external_ratio</a:t>
            </a:r>
          </a:p>
        </p:txBody>
      </p:sp>
      <p:sp>
        <p:nvSpPr>
          <p:cNvPr id="34" name="Shape 34"/>
          <p:cNvSpPr/>
          <p:nvPr/>
        </p:nvSpPr>
        <p:spPr>
          <a:xfrm>
            <a:off x="4393400" y="4600000"/>
            <a:ext cx="3405200" cy="44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l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Device / endpoint</a:t>
            </a:r>
          </a:p>
          <a:p>
            <a:pPr algn="l">
              <a:lnSpc>
                <a:spcPct val="98000"/>
              </a:lnSpc>
              <a:spcBef>
                <a:spcPts val="17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usb_event_count · new_device_score · remote_session_ratio</a:t>
            </a:r>
          </a:p>
        </p:txBody>
      </p:sp>
      <p:sp>
        <p:nvSpPr>
          <p:cNvPr id="35" name="Shape 35"/>
          <p:cNvSpPr/>
          <p:nvPr/>
        </p:nvSpPr>
        <p:spPr>
          <a:xfrm>
            <a:off x="7948600" y="4600000"/>
            <a:ext cx="3405200" cy="44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l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Network / location</a:t>
            </a:r>
          </a:p>
          <a:p>
            <a:pPr algn="l">
              <a:lnSpc>
                <a:spcPct val="98000"/>
              </a:lnSpc>
              <a:spcBef>
                <a:spcPts val="17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unusual_location_score · access_velocity_per_hour</a:t>
            </a:r>
          </a:p>
        </p:txBody>
      </p:sp>
      <p:sp>
        <p:nvSpPr>
          <p:cNvPr id="36" name="Shape 36"/>
          <p:cNvSpPr/>
          <p:nvPr/>
        </p:nvSpPr>
        <p:spPr>
          <a:xfrm>
            <a:off x="838200" y="5100000"/>
            <a:ext cx="3405200" cy="44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l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Privilege</a:t>
            </a:r>
          </a:p>
          <a:p>
            <a:pPr algn="l">
              <a:lnSpc>
                <a:spcPct val="98000"/>
              </a:lnSpc>
              <a:spcBef>
                <a:spcPts val="17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privileged_access_count · privilege_change_count_30d</a:t>
            </a:r>
          </a:p>
        </p:txBody>
      </p:sp>
      <p:sp>
        <p:nvSpPr>
          <p:cNvPr id="37" name="Shape 37"/>
          <p:cNvSpPr/>
          <p:nvPr/>
        </p:nvSpPr>
        <p:spPr>
          <a:xfrm>
            <a:off x="4393400" y="5100000"/>
            <a:ext cx="3405200" cy="44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l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Baseline context</a:t>
            </a:r>
          </a:p>
          <a:p>
            <a:pPr algn="l">
              <a:lnSpc>
                <a:spcPct val="98000"/>
              </a:lnSpc>
              <a:spcBef>
                <a:spcPts val="17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peer_deviation_score · dormant_account_days</a:t>
            </a:r>
          </a:p>
        </p:txBody>
      </p:sp>
      <p:sp>
        <p:nvSpPr>
          <p:cNvPr id="38" name="Shape 38"/>
          <p:cNvSpPr/>
          <p:nvPr/>
        </p:nvSpPr>
        <p:spPr>
          <a:xfrm>
            <a:off x="7948600" y="5100000"/>
            <a:ext cx="3405200" cy="44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l"/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Identity (categorical)</a:t>
            </a:r>
          </a:p>
          <a:p>
            <a:pPr algn="l">
              <a:lnSpc>
                <a:spcPct val="98000"/>
              </a:lnSpc>
              <a:spcBef>
                <a:spcPts val="17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department · role · account_type  →  one-hot encoded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653800" y="40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200" b="1" i="0" dirty="0">
                <a:solidFill>
                  <a:srgbClr val="EBDFC8"/>
                </a:solidFill>
                <a:latin typeface="Inter"/>
                <a:cs typeface="Inter"/>
              </a:rPr>
              <a:t>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8200" y="600000"/>
            <a:ext cx="10515600" cy="2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7C6A4E"/>
                </a:solidFill>
                <a:latin typeface="Inter"/>
                <a:cs typeface="Inter"/>
              </a:rPr>
              <a:t>MACHINE LEARNING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" y="860000"/>
            <a:ext cx="105156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2650" b="1" i="0" dirty="0">
                <a:solidFill>
                  <a:srgbClr val="1F1A14"/>
                </a:solidFill>
                <a:latin typeface="Inter"/>
                <a:cs typeface="Inter"/>
              </a:rPr>
              <a:t>Model Pipeline, Algorithms &amp; Evaluation</a:t>
            </a:r>
          </a:p>
        </p:txBody>
      </p:sp>
      <p:sp>
        <p:nvSpPr>
          <p:cNvPr id="17" name="Shape 17"/>
          <p:cNvSpPr/>
          <p:nvPr/>
        </p:nvSpPr>
        <p:spPr>
          <a:xfrm>
            <a:off x="838200" y="1530000"/>
            <a:ext cx="600000" cy="28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38200" y="6200000"/>
            <a:ext cx="74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Insider Threat Detection System  ·  AI-Powered Behavioral Analytics for Enterprise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53800" y="6200000"/>
            <a:ext cx="9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6 / 10</a:t>
            </a:r>
          </a:p>
        </p:txBody>
      </p:sp>
      <p:sp>
        <p:nvSpPr>
          <p:cNvPr id="20" name="Shape 20"/>
          <p:cNvSpPr/>
          <p:nvPr/>
        </p:nvSpPr>
        <p:spPr>
          <a:xfrm>
            <a:off x="838200" y="1800000"/>
            <a:ext cx="4300000" cy="29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50000" tIns="75000" rIns="150000" bIns="75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0E7490"/>
                </a:solidFill>
                <a:latin typeface="Inter"/>
                <a:cs typeface="Inter"/>
              </a:rPr>
              <a:t>TRAINING PIPELINE</a:t>
            </a:r>
          </a:p>
          <a:p>
            <a:pPr algn="l">
              <a:spcBef>
                <a:spcPts val="25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01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Dataset</a:t>
            </a:r>
          </a:p>
          <a:p>
            <a:pPr algn="l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10,000 windows, 8% threat rate</a:t>
            </a:r>
          </a:p>
          <a:p>
            <a:pPr algn="l">
              <a:spcBef>
                <a:spcPts val="25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02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Preprocessing</a:t>
            </a:r>
          </a:p>
          <a:p>
            <a:pPr algn="l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impute → log1p → scale → one-hot</a:t>
            </a:r>
          </a:p>
          <a:p>
            <a:pPr algn="l">
              <a:spcBef>
                <a:spcPts val="25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03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Feature engineering</a:t>
            </a:r>
          </a:p>
          <a:p>
            <a:pPr algn="l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20 numeric + 3 categorical → 42 columns</a:t>
            </a:r>
          </a:p>
          <a:p>
            <a:pPr algn="l">
              <a:spcBef>
                <a:spcPts val="25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04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Train / test split</a:t>
            </a:r>
          </a:p>
          <a:p>
            <a:pPr algn="l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8,000 / 2,000 stratified</a:t>
            </a:r>
          </a:p>
          <a:p>
            <a:pPr algn="l">
              <a:spcBef>
                <a:spcPts val="25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05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Model training</a:t>
            </a:r>
          </a:p>
          <a:p>
            <a:pPr algn="l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class_weight="balanced"</a:t>
            </a:r>
          </a:p>
          <a:p>
            <a:pPr algn="l">
              <a:spcBef>
                <a:spcPts val="25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06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Validation</a:t>
            </a:r>
          </a:p>
          <a:p>
            <a:pPr algn="l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precision, recall, F1, ROC-AUC, PR-AUC</a:t>
            </a:r>
          </a:p>
          <a:p>
            <a:pPr algn="l">
              <a:spcBef>
                <a:spcPts val="25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07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Prediction</a:t>
            </a:r>
          </a:p>
          <a:p>
            <a:pPr algn="l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threat probability per behavioural window</a:t>
            </a:r>
          </a:p>
          <a:p>
            <a:pPr algn="l">
              <a:spcBef>
                <a:spcPts val="25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08   </a:t>
            </a:r>
            <a:r>
              <a:rPr lang="en-US" sz="1050" b="1" i="0" dirty="0">
                <a:solidFill>
                  <a:srgbClr val="1F1A14"/>
                </a:solidFill>
                <a:latin typeface="Inter"/>
                <a:cs typeface="Inter"/>
              </a:rPr>
              <a:t>Risk classification</a:t>
            </a:r>
          </a:p>
          <a:p>
            <a:pPr algn="l">
              <a:spcBef>
                <a:spcPts val="60"/>
              </a:spcBef>
            </a:pPr>
            <a:r>
              <a:rPr lang="en-US" sz="900" b="0" i="0" dirty="0">
                <a:solidFill>
                  <a:srgbClr val="7C6A4E"/>
                </a:solidFill>
                <a:latin typeface="Inter"/>
                <a:cs typeface="Inter"/>
              </a:rPr>
              <a:t>LOW / MEDIUM / HIGH / CRITICAL</a:t>
            </a:r>
          </a:p>
        </p:txBody>
      </p:sp>
      <p:sp>
        <p:nvSpPr>
          <p:cNvPr id="21" name="Shape 21"/>
          <p:cNvSpPr/>
          <p:nvPr/>
        </p:nvSpPr>
        <p:spPr>
          <a:xfrm>
            <a:off x="5338200" y="1800000"/>
            <a:ext cx="6015600" cy="14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60000" tIns="80000" rIns="160000" bIns="80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0E7490"/>
                </a:solidFill>
                <a:latin typeface="Inter"/>
                <a:cs typeface="Inter"/>
              </a:rPr>
              <a:t>ALGORITHMS IMPLEMENTED</a:t>
            </a:r>
          </a:p>
          <a:p>
            <a:pPr algn="l">
              <a:spcBef>
                <a:spcPts val="320"/>
              </a:spcBef>
            </a:pPr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Logistic Regression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   class_weight="balanced", max_iter=1000, seed 42</a:t>
            </a:r>
          </a:p>
          <a:p>
            <a:pPr algn="l">
              <a:spcBef>
                <a:spcPts val="280"/>
              </a:spcBef>
            </a:pPr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Random Forest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   n_estimators=200, max_depth=10, class_weight="balanced"</a:t>
            </a:r>
          </a:p>
          <a:p>
            <a:pPr algn="l">
              <a:lnSpc>
                <a:spcPct val="102000"/>
              </a:lnSpc>
              <a:spcBef>
                <a:spcPts val="340"/>
              </a:spcBef>
            </a:pPr>
            <a:r>
              <a:rPr lang="en-US" sz="980" b="0" i="0" dirty="0">
                <a:solidFill>
                  <a:srgbClr val="7C6A4E"/>
                </a:solidFill>
                <a:latin typeface="Inter"/>
                <a:cs typeface="Inter"/>
              </a:rPr>
              <a:t>Both are trained on the identical preprocessed matrix; the higher F1 is saved. Saved artifact: sentinel-ueba-v1 — Logistic Regression.</a:t>
            </a:r>
          </a:p>
        </p:txBody>
      </p:sp>
      <p:sp>
        <p:nvSpPr>
          <p:cNvPr id="22" name="Shape 22"/>
          <p:cNvSpPr/>
          <p:nvPr/>
        </p:nvSpPr>
        <p:spPr>
          <a:xfrm>
            <a:off x="5338200" y="3400000"/>
            <a:ext cx="6015600" cy="14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60000" tIns="80000" rIns="160000" bIns="80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0E7490"/>
                </a:solidFill>
                <a:latin typeface="Inter"/>
                <a:cs typeface="Inter"/>
              </a:rPr>
              <a:t>PREDICTION OUTPUT</a:t>
            </a:r>
          </a:p>
          <a:p>
            <a:pPr algn="l">
              <a:lnSpc>
                <a:spcPct val="102000"/>
              </a:lnSpc>
              <a:spcBef>
                <a:spcPts val="300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Model probability → binary call at 0.5, then contextual scoring bands:</a:t>
            </a:r>
          </a:p>
          <a:p>
            <a:pPr algn="l">
              <a:spcBef>
                <a:spcPts val="320"/>
              </a:spcBef>
            </a:pPr>
            <a:r>
              <a:rPr lang="en-US" sz="1050" b="1" i="0" dirty="0">
                <a:solidFill>
                  <a:srgbClr val="166534"/>
                </a:solidFill>
                <a:latin typeface="Inter"/>
                <a:cs typeface="Inter"/>
              </a:rPr>
              <a:t>LOW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0–39      </a:t>
            </a:r>
            <a:r>
              <a:rPr lang="en-US" sz="1050" b="1" i="0" dirty="0">
                <a:solidFill>
                  <a:srgbClr val="8A5406"/>
                </a:solidFill>
                <a:latin typeface="Inter"/>
                <a:cs typeface="Inter"/>
              </a:rPr>
              <a:t>MEDIUM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40–69      </a:t>
            </a:r>
            <a:r>
              <a:rPr lang="en-US" sz="1050" b="1" i="0" dirty="0">
                <a:solidFill>
                  <a:srgbClr val="C2410C"/>
                </a:solidFill>
                <a:latin typeface="Inter"/>
                <a:cs typeface="Inter"/>
              </a:rPr>
              <a:t>HIGH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70–89      </a:t>
            </a:r>
            <a:r>
              <a:rPr lang="en-US" sz="1050" b="1" i="0" dirty="0">
                <a:solidFill>
                  <a:srgbClr val="9F1239"/>
                </a:solidFill>
                <a:latin typeface="Inter"/>
                <a:cs typeface="Inter"/>
              </a:rPr>
              <a:t>CRITICAL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90–100</a:t>
            </a:r>
          </a:p>
        </p:txBody>
      </p:sp>
      <p:sp>
        <p:nvSpPr>
          <p:cNvPr id="30" name="Shape 30"/>
          <p:cNvSpPr/>
          <p:nvPr/>
        </p:nvSpPr>
        <p:spPr>
          <a:xfrm>
            <a:off x="838200" y="4900000"/>
            <a:ext cx="1407942" cy="56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8C7A6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80000" tIns="40000" rIns="80000" bIns="40000">
            <a:normAutofit/>
          </a:bodyPr>
          <a:lstStyle/>
          <a:p>
            <a:pPr algn="ctr"/>
            <a:r>
              <a:rPr lang="en-US" sz="850" b="1" i="0" dirty="0">
                <a:solidFill>
                  <a:srgbClr val="7C6A4E"/>
                </a:solidFill>
                <a:latin typeface="Inter"/>
                <a:cs typeface="Inter"/>
              </a:rPr>
              <a:t>PRECISION</a:t>
            </a:r>
          </a:p>
          <a:p>
            <a:pPr algn="ctr">
              <a:spcBef>
                <a:spcPts val="140"/>
              </a:spcBef>
            </a:pPr>
            <a:r>
              <a:rPr lang="en-US" sz="1400" b="1" i="0" dirty="0">
                <a:solidFill>
                  <a:srgbClr val="1F1A14"/>
                </a:solidFill>
                <a:latin typeface="Inter"/>
                <a:cs typeface="Inter"/>
              </a:rPr>
              <a:t>1.0000</a:t>
            </a:r>
          </a:p>
        </p:txBody>
      </p:sp>
      <p:sp>
        <p:nvSpPr>
          <p:cNvPr id="31" name="Shape 31"/>
          <p:cNvSpPr/>
          <p:nvPr/>
        </p:nvSpPr>
        <p:spPr>
          <a:xfrm>
            <a:off x="2356142" y="4900000"/>
            <a:ext cx="1407942" cy="56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8C7A6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80000" tIns="40000" rIns="80000" bIns="40000">
            <a:normAutofit/>
          </a:bodyPr>
          <a:lstStyle/>
          <a:p>
            <a:pPr algn="ctr"/>
            <a:r>
              <a:rPr lang="en-US" sz="850" b="1" i="0" dirty="0">
                <a:solidFill>
                  <a:srgbClr val="7C6A4E"/>
                </a:solidFill>
                <a:latin typeface="Inter"/>
                <a:cs typeface="Inter"/>
              </a:rPr>
              <a:t>RECALL</a:t>
            </a:r>
          </a:p>
          <a:p>
            <a:pPr algn="ctr">
              <a:spcBef>
                <a:spcPts val="140"/>
              </a:spcBef>
            </a:pPr>
            <a:r>
              <a:rPr lang="en-US" sz="1400" b="1" i="0" dirty="0">
                <a:solidFill>
                  <a:srgbClr val="1F1A14"/>
                </a:solidFill>
                <a:latin typeface="Inter"/>
                <a:cs typeface="Inter"/>
              </a:rPr>
              <a:t>1.0000</a:t>
            </a:r>
          </a:p>
        </p:txBody>
      </p:sp>
      <p:sp>
        <p:nvSpPr>
          <p:cNvPr id="32" name="Shape 32"/>
          <p:cNvSpPr/>
          <p:nvPr/>
        </p:nvSpPr>
        <p:spPr>
          <a:xfrm>
            <a:off x="3874084" y="4900000"/>
            <a:ext cx="1407942" cy="56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8C7A6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80000" tIns="40000" rIns="80000" bIns="40000">
            <a:normAutofit/>
          </a:bodyPr>
          <a:lstStyle/>
          <a:p>
            <a:pPr algn="ctr"/>
            <a:r>
              <a:rPr lang="en-US" sz="850" b="1" i="0" dirty="0">
                <a:solidFill>
                  <a:srgbClr val="7C6A4E"/>
                </a:solidFill>
                <a:latin typeface="Inter"/>
                <a:cs typeface="Inter"/>
              </a:rPr>
              <a:t>F1</a:t>
            </a:r>
          </a:p>
          <a:p>
            <a:pPr algn="ctr">
              <a:spcBef>
                <a:spcPts val="140"/>
              </a:spcBef>
            </a:pPr>
            <a:r>
              <a:rPr lang="en-US" sz="1400" b="1" i="0" dirty="0">
                <a:solidFill>
                  <a:srgbClr val="1F1A14"/>
                </a:solidFill>
                <a:latin typeface="Inter"/>
                <a:cs typeface="Inter"/>
              </a:rPr>
              <a:t>1.0000</a:t>
            </a:r>
          </a:p>
        </p:txBody>
      </p:sp>
      <p:sp>
        <p:nvSpPr>
          <p:cNvPr id="33" name="Shape 33"/>
          <p:cNvSpPr/>
          <p:nvPr/>
        </p:nvSpPr>
        <p:spPr>
          <a:xfrm>
            <a:off x="5392026" y="4900000"/>
            <a:ext cx="1407942" cy="56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8C7A6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80000" tIns="40000" rIns="80000" bIns="40000">
            <a:normAutofit/>
          </a:bodyPr>
          <a:lstStyle/>
          <a:p>
            <a:pPr algn="ctr"/>
            <a:r>
              <a:rPr lang="en-US" sz="850" b="1" i="0" dirty="0">
                <a:solidFill>
                  <a:srgbClr val="7C6A4E"/>
                </a:solidFill>
                <a:latin typeface="Inter"/>
                <a:cs typeface="Inter"/>
              </a:rPr>
              <a:t>ROC-AUC</a:t>
            </a:r>
          </a:p>
          <a:p>
            <a:pPr algn="ctr">
              <a:spcBef>
                <a:spcPts val="140"/>
              </a:spcBef>
            </a:pPr>
            <a:r>
              <a:rPr lang="en-US" sz="1400" b="1" i="0" dirty="0">
                <a:solidFill>
                  <a:srgbClr val="1F1A14"/>
                </a:solidFill>
                <a:latin typeface="Inter"/>
                <a:cs typeface="Inter"/>
              </a:rPr>
              <a:t>1.0000</a:t>
            </a:r>
          </a:p>
        </p:txBody>
      </p:sp>
      <p:sp>
        <p:nvSpPr>
          <p:cNvPr id="34" name="Shape 34"/>
          <p:cNvSpPr/>
          <p:nvPr/>
        </p:nvSpPr>
        <p:spPr>
          <a:xfrm>
            <a:off x="6909968" y="4900000"/>
            <a:ext cx="1407942" cy="56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8C7A6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80000" tIns="40000" rIns="80000" bIns="40000">
            <a:normAutofit/>
          </a:bodyPr>
          <a:lstStyle/>
          <a:p>
            <a:pPr algn="ctr"/>
            <a:r>
              <a:rPr lang="en-US" sz="850" b="1" i="0" dirty="0">
                <a:solidFill>
                  <a:srgbClr val="7C6A4E"/>
                </a:solidFill>
                <a:latin typeface="Inter"/>
                <a:cs typeface="Inter"/>
              </a:rPr>
              <a:t>PR-AUC</a:t>
            </a:r>
          </a:p>
          <a:p>
            <a:pPr algn="ctr">
              <a:spcBef>
                <a:spcPts val="140"/>
              </a:spcBef>
            </a:pPr>
            <a:r>
              <a:rPr lang="en-US" sz="1400" b="1" i="0" dirty="0">
                <a:solidFill>
                  <a:srgbClr val="1F1A14"/>
                </a:solidFill>
                <a:latin typeface="Inter"/>
                <a:cs typeface="Inter"/>
              </a:rPr>
              <a:t>1.0000</a:t>
            </a:r>
          </a:p>
        </p:txBody>
      </p:sp>
      <p:sp>
        <p:nvSpPr>
          <p:cNvPr id="35" name="Shape 35"/>
          <p:cNvSpPr/>
          <p:nvPr/>
        </p:nvSpPr>
        <p:spPr>
          <a:xfrm>
            <a:off x="8427910" y="4900000"/>
            <a:ext cx="1407942" cy="56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8C7A6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80000" tIns="40000" rIns="80000" bIns="40000">
            <a:normAutofit/>
          </a:bodyPr>
          <a:lstStyle/>
          <a:p>
            <a:pPr algn="ctr"/>
            <a:r>
              <a:rPr lang="en-US" sz="850" b="1" i="0" dirty="0">
                <a:solidFill>
                  <a:srgbClr val="7C6A4E"/>
                </a:solidFill>
                <a:latin typeface="Inter"/>
                <a:cs typeface="Inter"/>
              </a:rPr>
              <a:t>FPR</a:t>
            </a:r>
          </a:p>
          <a:p>
            <a:pPr algn="ctr">
              <a:spcBef>
                <a:spcPts val="140"/>
              </a:spcBef>
            </a:pPr>
            <a:r>
              <a:rPr lang="en-US" sz="1400" b="1" i="0" dirty="0">
                <a:solidFill>
                  <a:srgbClr val="1F1A14"/>
                </a:solidFill>
                <a:latin typeface="Inter"/>
                <a:cs typeface="Inter"/>
              </a:rPr>
              <a:t>0.0000</a:t>
            </a:r>
          </a:p>
        </p:txBody>
      </p:sp>
      <p:sp>
        <p:nvSpPr>
          <p:cNvPr id="36" name="Shape 36"/>
          <p:cNvSpPr/>
          <p:nvPr/>
        </p:nvSpPr>
        <p:spPr>
          <a:xfrm>
            <a:off x="9945852" y="4900000"/>
            <a:ext cx="1407942" cy="56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D8C7A6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80000" tIns="40000" rIns="80000" bIns="40000">
            <a:normAutofit/>
          </a:bodyPr>
          <a:lstStyle/>
          <a:p>
            <a:pPr algn="ctr"/>
            <a:r>
              <a:rPr lang="en-US" sz="850" b="1" i="0" dirty="0">
                <a:solidFill>
                  <a:srgbClr val="7C6A4E"/>
                </a:solidFill>
                <a:latin typeface="Inter"/>
                <a:cs typeface="Inter"/>
              </a:rPr>
              <a:t>ACCURACY</a:t>
            </a:r>
          </a:p>
          <a:p>
            <a:pPr algn="ctr">
              <a:spcBef>
                <a:spcPts val="140"/>
              </a:spcBef>
            </a:pPr>
            <a:r>
              <a:rPr lang="en-US" sz="1400" b="1" i="0" dirty="0">
                <a:solidFill>
                  <a:srgbClr val="1F1A14"/>
                </a:solidFill>
                <a:latin typeface="Inter"/>
                <a:cs typeface="Inter"/>
              </a:rPr>
              <a:t>1.0000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838200" y="5520000"/>
            <a:ext cx="10515600" cy="4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en-US" sz="980" b="0" i="0" dirty="0">
                <a:solidFill>
                  <a:srgbClr val="63553F"/>
                </a:solidFill>
                <a:latin typeface="Inter"/>
                <a:cs typeface="Inter"/>
              </a:rPr>
              <a:t>Measured on the 2,000-window synthetic holdout — confusion matrix 1,839 TN / 0 FP / 0 FN / 161 TP. </a:t>
            </a:r>
            <a:r>
              <a:rPr lang="en-US" sz="980" b="0" i="0" dirty="0">
                <a:solidFill>
                  <a:srgbClr val="7C6A4E"/>
                </a:solidFill>
                <a:latin typeface="Inter"/>
                <a:cs typeface="Inter"/>
              </a:rPr>
              <a:t>Perfect scores are expected here: the generator produces two cleanly separable distributions, so these are not real-world guarantees. Honest evaluation needs a labelled real corpus or injected red-team activity.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653800" y="40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200" b="1" i="0" dirty="0">
                <a:solidFill>
                  <a:srgbClr val="EBDFC8"/>
                </a:solidFill>
                <a:latin typeface="Inter"/>
                <a:cs typeface="Inter"/>
              </a:rPr>
              <a:t>07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8200" y="600000"/>
            <a:ext cx="10515600" cy="2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7C6A4E"/>
                </a:solidFill>
                <a:latin typeface="Inter"/>
                <a:cs typeface="Inter"/>
              </a:rPr>
              <a:t>SYSTEM ARCHITECTURE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" y="860000"/>
            <a:ext cx="105156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2650" b="1" i="0" dirty="0">
                <a:solidFill>
                  <a:srgbClr val="1F1A14"/>
                </a:solidFill>
                <a:latin typeface="Inter"/>
                <a:cs typeface="Inter"/>
              </a:rPr>
              <a:t>End-to-End Detection Architecture</a:t>
            </a:r>
          </a:p>
        </p:txBody>
      </p:sp>
      <p:sp>
        <p:nvSpPr>
          <p:cNvPr id="17" name="Shape 17"/>
          <p:cNvSpPr/>
          <p:nvPr/>
        </p:nvSpPr>
        <p:spPr>
          <a:xfrm>
            <a:off x="838200" y="1530000"/>
            <a:ext cx="600000" cy="28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38200" y="6200000"/>
            <a:ext cx="74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Insider Threat Detection System  ·  AI-Powered Behavioral Analytics for Enterprise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53800" y="6200000"/>
            <a:ext cx="9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7 / 10</a:t>
            </a:r>
          </a:p>
        </p:txBody>
      </p:sp>
      <p:sp>
        <p:nvSpPr>
          <p:cNvPr id="20" name="Shape 20"/>
          <p:cNvSpPr/>
          <p:nvPr/>
        </p:nvSpPr>
        <p:spPr>
          <a:xfrm>
            <a:off x="2288200" y="1920000"/>
            <a:ext cx="6600000" cy="32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1100" b="1" i="0" dirty="0">
                <a:solidFill>
                  <a:srgbClr val="1F1A14"/>
                </a:solidFill>
                <a:latin typeface="Inter"/>
                <a:cs typeface="Inter"/>
              </a:rPr>
              <a:t>User Activity</a:t>
            </a:r>
            <a:r>
              <a:rPr lang="en-US" sz="950" b="0" i="0" dirty="0">
                <a:solidFill>
                  <a:srgbClr val="63553F"/>
                </a:solidFill>
                <a:latin typeface="Inter"/>
                <a:cs typeface="Inter"/>
              </a:rPr>
              <a:t>   logins, file access, transfers, endpoints, sessions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" y="1920000"/>
            <a:ext cx="9000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01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028200" y="1920000"/>
            <a:ext cx="23256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browser · React 19 + Vite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288200" y="2240000"/>
            <a:ext cx="6600000" cy="58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800" b="1" i="0" dirty="0">
                <a:solidFill>
                  <a:srgbClr val="0E7490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1" name="Shape 21"/>
          <p:cNvSpPr/>
          <p:nvPr/>
        </p:nvSpPr>
        <p:spPr>
          <a:xfrm>
            <a:off x="2288200" y="2298000"/>
            <a:ext cx="6600000" cy="3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1100" b="1" i="0" dirty="0">
                <a:solidFill>
                  <a:srgbClr val="1F1A14"/>
                </a:solidFill>
                <a:latin typeface="Inter"/>
                <a:cs typeface="Inter"/>
              </a:rPr>
              <a:t>Data Collection Layer</a:t>
            </a:r>
            <a:r>
              <a:rPr lang="en-US" sz="950" b="0" i="0" dirty="0">
                <a:solidFill>
                  <a:srgbClr val="63553F"/>
                </a:solidFill>
                <a:latin typeface="Inter"/>
                <a:cs typeface="Inter"/>
              </a:rPr>
              <a:t>   behavioural windows aggregated per identity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38200" y="2298000"/>
            <a:ext cx="9000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02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028200" y="2298000"/>
            <a:ext cx="23256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FastAPI · Pydantic v2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2288200" y="2618000"/>
            <a:ext cx="6600000" cy="58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800" b="1" i="0" dirty="0">
                <a:solidFill>
                  <a:srgbClr val="0E7490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2" name="Shape 22"/>
          <p:cNvSpPr/>
          <p:nvPr/>
        </p:nvSpPr>
        <p:spPr>
          <a:xfrm>
            <a:off x="2288200" y="2676000"/>
            <a:ext cx="6600000" cy="3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1100" b="1" i="0" dirty="0">
                <a:solidFill>
                  <a:srgbClr val="1F1A14"/>
                </a:solidFill>
                <a:latin typeface="Inter"/>
                <a:cs typeface="Inter"/>
              </a:rPr>
              <a:t>Preprocessing Engine</a:t>
            </a:r>
            <a:r>
              <a:rPr lang="en-US" sz="950" b="0" i="0" dirty="0">
                <a:solidFill>
                  <a:srgbClr val="63553F"/>
                </a:solidFill>
                <a:latin typeface="Inter"/>
                <a:cs typeface="Inter"/>
              </a:rPr>
              <a:t>   impute → log1p → standard scale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38200" y="2676000"/>
            <a:ext cx="9000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028200" y="2676000"/>
            <a:ext cx="23256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scikit-learn Pipeline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2288200" y="2996000"/>
            <a:ext cx="6600000" cy="58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800" b="1" i="0" dirty="0">
                <a:solidFill>
                  <a:srgbClr val="0E7490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3" name="Shape 23"/>
          <p:cNvSpPr/>
          <p:nvPr/>
        </p:nvSpPr>
        <p:spPr>
          <a:xfrm>
            <a:off x="2288200" y="3054000"/>
            <a:ext cx="6600000" cy="3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1100" b="1" i="0" dirty="0">
                <a:solidFill>
                  <a:srgbClr val="1F1A14"/>
                </a:solidFill>
                <a:latin typeface="Inter"/>
                <a:cs typeface="Inter"/>
              </a:rPr>
              <a:t>Feature Engineering</a:t>
            </a:r>
            <a:r>
              <a:rPr lang="en-US" sz="950" b="0" i="0" dirty="0">
                <a:solidFill>
                  <a:srgbClr val="63553F"/>
                </a:solidFill>
                <a:latin typeface="Inter"/>
                <a:cs typeface="Inter"/>
              </a:rPr>
              <a:t>   20 numeric + 3 categorical → 42 columns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8200" y="3054000"/>
            <a:ext cx="9000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04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028200" y="3054000"/>
            <a:ext cx="23256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pandas · NumPy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288200" y="3374000"/>
            <a:ext cx="6600000" cy="58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800" b="1" i="0" dirty="0">
                <a:solidFill>
                  <a:srgbClr val="0E7490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4" name="Shape 24"/>
          <p:cNvSpPr/>
          <p:nvPr/>
        </p:nvSpPr>
        <p:spPr>
          <a:xfrm>
            <a:off x="2288200" y="3432000"/>
            <a:ext cx="6600000" cy="3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1100" b="1" i="0" dirty="0">
                <a:solidFill>
                  <a:srgbClr val="1F1A14"/>
                </a:solidFill>
                <a:latin typeface="Inter"/>
                <a:cs typeface="Inter"/>
              </a:rPr>
              <a:t>ML Detection Engine</a:t>
            </a:r>
            <a:r>
              <a:rPr lang="en-US" sz="950" b="0" i="0" dirty="0">
                <a:solidFill>
                  <a:srgbClr val="63553F"/>
                </a:solidFill>
                <a:latin typeface="Inter"/>
                <a:cs typeface="Inter"/>
              </a:rPr>
              <a:t>   Logistic Regression probability per window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38200" y="3432000"/>
            <a:ext cx="9000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05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028200" y="3432000"/>
            <a:ext cx="23256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joblib artifact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288200" y="3752000"/>
            <a:ext cx="6600000" cy="58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800" b="1" i="0" dirty="0">
                <a:solidFill>
                  <a:srgbClr val="0E7490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5" name="Shape 25"/>
          <p:cNvSpPr/>
          <p:nvPr/>
        </p:nvSpPr>
        <p:spPr>
          <a:xfrm>
            <a:off x="2288200" y="3810000"/>
            <a:ext cx="6600000" cy="3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1100" b="1" i="0" dirty="0">
                <a:solidFill>
                  <a:srgbClr val="1F1A14"/>
                </a:solidFill>
                <a:latin typeface="Inter"/>
                <a:cs typeface="Inter"/>
              </a:rPr>
              <a:t>Risk Scoring Engine</a:t>
            </a:r>
            <a:r>
              <a:rPr lang="en-US" sz="950" b="0" i="0" dirty="0">
                <a:solidFill>
                  <a:srgbClr val="63553F"/>
                </a:solidFill>
                <a:latin typeface="Inter"/>
                <a:cs typeface="Inter"/>
              </a:rPr>
              <a:t>   0.40 ML + 0.30 behaviour + 0.15 asset + 0.15 privilege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38200" y="3810000"/>
            <a:ext cx="9000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06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028200" y="3810000"/>
            <a:ext cx="23256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risk_engine.py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288200" y="4130000"/>
            <a:ext cx="6600000" cy="58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800" b="1" i="0" dirty="0">
                <a:solidFill>
                  <a:srgbClr val="0E7490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6" name="Shape 26"/>
          <p:cNvSpPr/>
          <p:nvPr/>
        </p:nvSpPr>
        <p:spPr>
          <a:xfrm>
            <a:off x="2288200" y="4188000"/>
            <a:ext cx="6600000" cy="32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1100" b="1" i="0" dirty="0">
                <a:solidFill>
                  <a:srgbClr val="1F1A14"/>
                </a:solidFill>
                <a:latin typeface="Inter"/>
                <a:cs typeface="Inter"/>
              </a:rPr>
              <a:t>Alert / Notification System</a:t>
            </a:r>
            <a:r>
              <a:rPr lang="en-US" sz="950" b="0" i="0" dirty="0">
                <a:solidFill>
                  <a:srgbClr val="63553F"/>
                </a:solidFill>
                <a:latin typeface="Inter"/>
                <a:cs typeface="Inter"/>
              </a:rPr>
              <a:t>   8 deterministic rules, severity bands, notifications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8200" y="4188000"/>
            <a:ext cx="9000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07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9028200" y="4188000"/>
            <a:ext cx="23256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POST /api/v1/ingestion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2288200" y="4508000"/>
            <a:ext cx="6600000" cy="58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800" b="1" i="0" dirty="0">
                <a:solidFill>
                  <a:srgbClr val="0E7490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27" name="Shape 27"/>
          <p:cNvSpPr/>
          <p:nvPr/>
        </p:nvSpPr>
        <p:spPr>
          <a:xfrm>
            <a:off x="2288200" y="4566000"/>
            <a:ext cx="6600000" cy="32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1100" b="1" i="0" dirty="0">
                <a:solidFill>
                  <a:srgbClr val="1F1A14"/>
                </a:solidFill>
                <a:latin typeface="Inter"/>
                <a:cs typeface="Inter"/>
              </a:rPr>
              <a:t>Security Dashboard</a:t>
            </a:r>
            <a:r>
              <a:rPr lang="en-US" sz="950" b="0" i="0" dirty="0">
                <a:solidFill>
                  <a:srgbClr val="63553F"/>
                </a:solidFill>
                <a:latin typeface="Inter"/>
                <a:cs typeface="Inter"/>
              </a:rPr>
              <a:t>   queue, timelines, model insights, investigations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38200" y="4566000"/>
            <a:ext cx="9000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08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028200" y="4566000"/>
            <a:ext cx="2325600" cy="32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l"/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PostgreSQL · SQLAlchemy 2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838200" y="5144000"/>
            <a:ext cx="10515600" cy="4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>
              <a:lnSpc>
                <a:spcPct val="102000"/>
              </a:lnSpc>
            </a:pPr>
            <a:r>
              <a:rPr lang="en-US" sz="980" b="0" i="0" dirty="0">
                <a:solidFill>
                  <a:srgbClr val="7C6A4E"/>
                </a:solidFill>
                <a:latin typeface="Inter"/>
                <a:cs typeface="Inter"/>
              </a:rPr>
              <a:t>One FastAPI service owns authentication (JWT + refresh), RBAC across four roles, ingestion and detection; the model artifact is loaded once at startup, so inference is in-process.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653800" y="40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200" b="1" i="0" dirty="0">
                <a:solidFill>
                  <a:srgbClr val="EBDFC8"/>
                </a:solidFill>
                <a:latin typeface="Inter"/>
                <a:cs typeface="Inter"/>
              </a:rPr>
              <a:t>08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8200" y="600000"/>
            <a:ext cx="10515600" cy="2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7C6A4E"/>
                </a:solidFill>
                <a:latin typeface="Inter"/>
                <a:cs typeface="Inter"/>
              </a:rPr>
              <a:t>WORKING DEMONSTRATION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" y="860000"/>
            <a:ext cx="105156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2650" b="1" i="0" dirty="0">
                <a:solidFill>
                  <a:srgbClr val="1F1A14"/>
                </a:solidFill>
                <a:latin typeface="Inter"/>
                <a:cs typeface="Inter"/>
              </a:rPr>
              <a:t>Security Dashboard</a:t>
            </a:r>
          </a:p>
        </p:txBody>
      </p:sp>
      <p:sp>
        <p:nvSpPr>
          <p:cNvPr id="17" name="Shape 17"/>
          <p:cNvSpPr/>
          <p:nvPr/>
        </p:nvSpPr>
        <p:spPr>
          <a:xfrm>
            <a:off x="838200" y="1530000"/>
            <a:ext cx="600000" cy="28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38200" y="6200000"/>
            <a:ext cx="74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Insider Threat Detection System  ·  AI-Powered Behavioral Analytics for Enterprise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53800" y="6200000"/>
            <a:ext cx="9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8 / 10</a:t>
            </a:r>
          </a:p>
        </p:txBody>
      </p:sp>
      <p:sp>
        <p:nvSpPr>
          <p:cNvPr id="20" name="Shape 20"/>
          <p:cNvSpPr/>
          <p:nvPr/>
        </p:nvSpPr>
        <p:spPr>
          <a:xfrm>
            <a:off x="838200" y="1800000"/>
            <a:ext cx="3070000" cy="88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D8C7A6"/>
            </a:solidFill>
            <a:prstDash val="dash"/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ctr"/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Security Overview</a:t>
            </a:r>
          </a:p>
          <a:p>
            <a:pPr algn="ctr">
              <a:spcBef>
                <a:spcPts val="200"/>
              </a:spcBef>
            </a:pPr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screenshot placeholder — drop the captured view here</a:t>
            </a:r>
          </a:p>
        </p:txBody>
      </p:sp>
      <p:sp>
        <p:nvSpPr>
          <p:cNvPr id="21" name="Shape 21"/>
          <p:cNvSpPr/>
          <p:nvPr/>
        </p:nvSpPr>
        <p:spPr>
          <a:xfrm>
            <a:off x="4068200" y="1800000"/>
            <a:ext cx="3070000" cy="88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D8C7A6"/>
            </a:solidFill>
            <a:prstDash val="dash"/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ctr"/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User Risk Scores</a:t>
            </a:r>
          </a:p>
          <a:p>
            <a:pPr algn="ctr">
              <a:spcBef>
                <a:spcPts val="200"/>
              </a:spcBef>
            </a:pPr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screenshot placeholder — drop the captured view here</a:t>
            </a:r>
          </a:p>
        </p:txBody>
      </p:sp>
      <p:sp>
        <p:nvSpPr>
          <p:cNvPr id="22" name="Shape 22"/>
          <p:cNvSpPr/>
          <p:nvPr/>
        </p:nvSpPr>
        <p:spPr>
          <a:xfrm>
            <a:off x="838200" y="2810000"/>
            <a:ext cx="3070000" cy="88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D8C7A6"/>
            </a:solidFill>
            <a:prstDash val="dash"/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ctr"/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Suspicious Activities</a:t>
            </a:r>
          </a:p>
          <a:p>
            <a:pPr algn="ctr">
              <a:spcBef>
                <a:spcPts val="200"/>
              </a:spcBef>
            </a:pPr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screenshot placeholder — drop the captured view here</a:t>
            </a:r>
          </a:p>
        </p:txBody>
      </p:sp>
      <p:sp>
        <p:nvSpPr>
          <p:cNvPr id="23" name="Shape 23"/>
          <p:cNvSpPr/>
          <p:nvPr/>
        </p:nvSpPr>
        <p:spPr>
          <a:xfrm>
            <a:off x="4068200" y="2810000"/>
            <a:ext cx="3070000" cy="88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D8C7A6"/>
            </a:solidFill>
            <a:prstDash val="dash"/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ctr"/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Recent Alerts</a:t>
            </a:r>
          </a:p>
          <a:p>
            <a:pPr algn="ctr">
              <a:spcBef>
                <a:spcPts val="200"/>
              </a:spcBef>
            </a:pPr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screenshot placeholder — drop the captured view here</a:t>
            </a:r>
          </a:p>
        </p:txBody>
      </p:sp>
      <p:sp>
        <p:nvSpPr>
          <p:cNvPr id="24" name="Shape 24"/>
          <p:cNvSpPr/>
          <p:nvPr/>
        </p:nvSpPr>
        <p:spPr>
          <a:xfrm>
            <a:off x="838200" y="3820000"/>
            <a:ext cx="3070000" cy="88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D8C7A6"/>
            </a:solidFill>
            <a:prstDash val="dash"/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ctr"/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Behavioral Trends</a:t>
            </a:r>
          </a:p>
          <a:p>
            <a:pPr algn="ctr">
              <a:spcBef>
                <a:spcPts val="200"/>
              </a:spcBef>
            </a:pPr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screenshot placeholder — drop the captured view here</a:t>
            </a:r>
          </a:p>
        </p:txBody>
      </p:sp>
      <p:sp>
        <p:nvSpPr>
          <p:cNvPr id="25" name="Shape 25"/>
          <p:cNvSpPr/>
          <p:nvPr/>
        </p:nvSpPr>
        <p:spPr>
          <a:xfrm>
            <a:off x="4068200" y="3820000"/>
            <a:ext cx="3070000" cy="88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D8C7A6"/>
            </a:solidFill>
            <a:prstDash val="dash"/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ctr"/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High-Risk Users</a:t>
            </a:r>
          </a:p>
          <a:p>
            <a:pPr algn="ctr">
              <a:spcBef>
                <a:spcPts val="200"/>
              </a:spcBef>
            </a:pPr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screenshot placeholder — drop the captured view here</a:t>
            </a:r>
          </a:p>
        </p:txBody>
      </p:sp>
      <p:sp>
        <p:nvSpPr>
          <p:cNvPr id="26" name="Shape 26"/>
          <p:cNvSpPr/>
          <p:nvPr/>
        </p:nvSpPr>
        <p:spPr>
          <a:xfrm>
            <a:off x="838200" y="4830000"/>
            <a:ext cx="3070000" cy="88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D8C7A6"/>
            </a:solidFill>
            <a:prstDash val="dash"/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ctr"/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Activity Timeline</a:t>
            </a:r>
          </a:p>
          <a:p>
            <a:pPr algn="ctr">
              <a:spcBef>
                <a:spcPts val="200"/>
              </a:spcBef>
            </a:pPr>
            <a:r>
              <a:rPr lang="en-US" sz="880" b="0" i="0" dirty="0">
                <a:solidFill>
                  <a:srgbClr val="7C6A4E"/>
                </a:solidFill>
                <a:latin typeface="Inter"/>
                <a:cs typeface="Inter"/>
              </a:rPr>
              <a:t>screenshot placeholder — drop the captured view here</a:t>
            </a:r>
          </a:p>
        </p:txBody>
      </p:sp>
      <p:sp>
        <p:nvSpPr>
          <p:cNvPr id="27" name="Shape 27"/>
          <p:cNvSpPr/>
          <p:nvPr/>
        </p:nvSpPr>
        <p:spPr>
          <a:xfrm>
            <a:off x="7318200" y="1800000"/>
            <a:ext cx="4035600" cy="21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70000" tIns="85000" rIns="170000" bIns="85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0E7490"/>
                </a:solidFill>
                <a:latin typeface="Inter"/>
                <a:cs typeface="Inter"/>
              </a:rPr>
              <a:t>WORKED EXAMPLE · ILLUSTRATIVE</a:t>
            </a:r>
          </a:p>
          <a:p>
            <a:pPr algn="l">
              <a:spcBef>
                <a:spcPts val="28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Employee  →  </a:t>
            </a:r>
            <a:r>
              <a:rPr lang="en-US" sz="1000" b="0" i="0" dirty="0">
                <a:solidFill>
                  <a:srgbClr val="1F1A14"/>
                </a:solidFill>
                <a:latin typeface="Inter"/>
                <a:cs typeface="Inter"/>
              </a:rPr>
              <a:t>a finance user, privileged account</a:t>
            </a:r>
          </a:p>
          <a:p>
            <a:pPr algn="l">
              <a:spcBef>
                <a:spcPts val="28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Deviation  →  </a:t>
            </a:r>
            <a:r>
              <a:rPr lang="en-US" sz="1000" b="0" i="0" dirty="0">
                <a:solidFill>
                  <a:srgbClr val="1F1A14"/>
                </a:solidFill>
                <a:latin typeface="Inter"/>
                <a:cs typeface="Inter"/>
              </a:rPr>
              <a:t>off_hours_ratio 0.82, 27 sensitive files</a:t>
            </a:r>
          </a:p>
          <a:p>
            <a:pPr algn="l">
              <a:spcBef>
                <a:spcPts val="28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Risk score  →  </a:t>
            </a:r>
            <a:r>
              <a:rPr lang="en-US" sz="1000" b="0" i="0" dirty="0">
                <a:solidFill>
                  <a:srgbClr val="1F1A14"/>
                </a:solidFill>
                <a:latin typeface="Inter"/>
                <a:cs typeface="Inter"/>
              </a:rPr>
              <a:t>94 / 100 → CRITICAL</a:t>
            </a:r>
          </a:p>
          <a:p>
            <a:pPr algn="l">
              <a:spcBef>
                <a:spcPts val="28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Alert  →  </a:t>
            </a:r>
            <a:r>
              <a:rPr lang="en-US" sz="1000" b="0" i="0" dirty="0">
                <a:solidFill>
                  <a:srgbClr val="1F1A14"/>
                </a:solidFill>
                <a:latin typeface="Inter"/>
                <a:cs typeface="Inter"/>
              </a:rPr>
              <a:t>OFF_HOURS_ACCESS + RESOURCE_SNOOPING</a:t>
            </a:r>
          </a:p>
          <a:p>
            <a:pPr algn="l">
              <a:spcBef>
                <a:spcPts val="280"/>
              </a:spcBef>
            </a:pPr>
            <a:r>
              <a:rPr lang="en-US" sz="1000" b="1" i="0" dirty="0">
                <a:solidFill>
                  <a:srgbClr val="0E7490"/>
                </a:solidFill>
                <a:latin typeface="Inter"/>
                <a:cs typeface="Inter"/>
              </a:rPr>
              <a:t>Investigation  →  </a:t>
            </a:r>
            <a:r>
              <a:rPr lang="en-US" sz="1000" b="0" i="0" dirty="0">
                <a:solidFill>
                  <a:srgbClr val="1F1A14"/>
                </a:solidFill>
                <a:latin typeface="Inter"/>
                <a:cs typeface="Inter"/>
              </a:rPr>
              <a:t>queued for an analyst with the factors attached</a:t>
            </a:r>
          </a:p>
        </p:txBody>
      </p:sp>
      <p:sp>
        <p:nvSpPr>
          <p:cNvPr id="28" name="Shape 28"/>
          <p:cNvSpPr/>
          <p:nvPr/>
        </p:nvSpPr>
        <p:spPr>
          <a:xfrm>
            <a:off x="7318200" y="4080000"/>
            <a:ext cx="4035600" cy="184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70000" tIns="85000" rIns="170000" bIns="85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7C6A4E"/>
                </a:solidFill>
                <a:latin typeface="Inter"/>
                <a:cs typeface="Inter"/>
              </a:rPr>
              <a:t>HOW TO CAPTURE</a:t>
            </a:r>
          </a:p>
          <a:p>
            <a:pPr algn="l">
              <a:spcBef>
                <a:spcPts val="430"/>
              </a:spcBef>
            </a:pPr>
            <a:r>
              <a:rPr lang="en-US" sz="1000" b="1" i="0" dirty="0">
                <a:solidFill>
                  <a:srgbClr val="C2410C"/>
                </a:solidFill>
                <a:latin typeface="Inter"/>
                <a:cs typeface="Inter"/>
              </a:rPr>
              <a:t>– 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Run the UI (npm run dev) and the API (docker compose up --build).</a:t>
            </a:r>
          </a:p>
          <a:p>
            <a:pPr algn="l">
              <a:spcBef>
                <a:spcPts val="430"/>
              </a:spcBef>
            </a:pPr>
            <a:r>
              <a:rPr lang="en-US" sz="1000" b="1" i="0" dirty="0">
                <a:solidFill>
                  <a:srgbClr val="C2410C"/>
                </a:solidFill>
                <a:latin typeface="Inter"/>
                <a:cs typeface="Inter"/>
              </a:rPr>
              <a:t>– 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Sign in, then walk Command Center → Anomaly Queue → User Behaviour → Activity Timeline → Model Insights.</a:t>
            </a:r>
          </a:p>
          <a:p>
            <a:pPr algn="l">
              <a:spcBef>
                <a:spcPts val="430"/>
              </a:spcBef>
            </a:pPr>
            <a:r>
              <a:rPr lang="en-US" sz="1000" b="1" i="0" dirty="0">
                <a:solidFill>
                  <a:srgbClr val="C2410C"/>
                </a:solidFill>
                <a:latin typeface="Inter"/>
                <a:cs typeface="Inter"/>
              </a:rPr>
              <a:t>– 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Open an alert to capture the drawer, and an employee for the peer comparison.</a:t>
            </a:r>
          </a:p>
          <a:p>
            <a:pPr algn="l">
              <a:spcBef>
                <a:spcPts val="430"/>
              </a:spcBef>
            </a:pPr>
            <a:r>
              <a:rPr lang="en-US" sz="1000" b="1" i="0" dirty="0">
                <a:solidFill>
                  <a:srgbClr val="C2410C"/>
                </a:solidFill>
                <a:latin typeface="Inter"/>
                <a:cs typeface="Inter"/>
              </a:rPr>
              <a:t>– 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Frames above are sized for wide strips — replace each card with its capture.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653800" y="40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200" b="1" i="0" dirty="0">
                <a:solidFill>
                  <a:srgbClr val="EBDFC8"/>
                </a:solidFill>
                <a:latin typeface="Inter"/>
                <a:cs typeface="Inter"/>
              </a:rPr>
              <a:t>09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8200" y="600000"/>
            <a:ext cx="10515600" cy="2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7C6A4E"/>
                </a:solidFill>
                <a:latin typeface="Inter"/>
                <a:cs typeface="Inter"/>
              </a:rPr>
              <a:t>OUTCOMES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" y="860000"/>
            <a:ext cx="105156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2650" b="1" i="0" dirty="0">
                <a:solidFill>
                  <a:srgbClr val="1F1A14"/>
                </a:solidFill>
                <a:latin typeface="Inter"/>
                <a:cs typeface="Inter"/>
              </a:rPr>
              <a:t>Results, Advantages &amp; Security Impact</a:t>
            </a:r>
          </a:p>
        </p:txBody>
      </p:sp>
      <p:sp>
        <p:nvSpPr>
          <p:cNvPr id="17" name="Shape 17"/>
          <p:cNvSpPr/>
          <p:nvPr/>
        </p:nvSpPr>
        <p:spPr>
          <a:xfrm>
            <a:off x="838200" y="1530000"/>
            <a:ext cx="600000" cy="28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38200" y="6200000"/>
            <a:ext cx="74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Insider Threat Detection System  ·  AI-Powered Behavioral Analytics for Enterprise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53800" y="6200000"/>
            <a:ext cx="9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9 / 10</a:t>
            </a:r>
          </a:p>
        </p:txBody>
      </p:sp>
      <p:sp>
        <p:nvSpPr>
          <p:cNvPr id="20" name="Shape 20"/>
          <p:cNvSpPr/>
          <p:nvPr/>
        </p:nvSpPr>
        <p:spPr>
          <a:xfrm>
            <a:off x="838200" y="1800000"/>
            <a:ext cx="3398533" cy="27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60000" tIns="80000" rIns="160000" bIns="80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0E7490"/>
                </a:solidFill>
                <a:latin typeface="Inter"/>
                <a:cs typeface="Inter"/>
              </a:rPr>
              <a:t>MODEL PERFORMANCE</a:t>
            </a:r>
          </a:p>
          <a:p>
            <a:pPr algn="l">
              <a:spcBef>
                <a:spcPts val="280"/>
              </a:spcBef>
            </a:pPr>
            <a:r>
              <a:rPr lang="en-US" sz="920" b="0" i="0" dirty="0">
                <a:solidFill>
                  <a:srgbClr val="7C6A4E"/>
                </a:solidFill>
                <a:latin typeface="Inter"/>
                <a:cs typeface="Inter"/>
              </a:rPr>
              <a:t>Logistic Regression · sentinel-ueba-v1 · 2,000-window synthetic holdout</a:t>
            </a:r>
          </a:p>
          <a:p>
            <a:pPr algn="l">
              <a:spcBef>
                <a:spcPts val="210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Precision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   1.0000</a:t>
            </a:r>
          </a:p>
          <a:p>
            <a:pPr algn="l">
              <a:spcBef>
                <a:spcPts val="210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Recall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   1.0000</a:t>
            </a:r>
          </a:p>
          <a:p>
            <a:pPr algn="l">
              <a:spcBef>
                <a:spcPts val="210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F1 score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   1.0000</a:t>
            </a:r>
          </a:p>
          <a:p>
            <a:pPr algn="l">
              <a:spcBef>
                <a:spcPts val="210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ROC-AUC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   1.0000</a:t>
            </a:r>
          </a:p>
          <a:p>
            <a:pPr algn="l">
              <a:spcBef>
                <a:spcPts val="210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PR-AUC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   1.0000</a:t>
            </a:r>
          </a:p>
          <a:p>
            <a:pPr algn="l">
              <a:spcBef>
                <a:spcPts val="210"/>
              </a:spcBef>
            </a:pP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False-positive rate</a:t>
            </a:r>
            <a:r>
              <a:rPr lang="en-US" sz="1000" b="1" i="0" dirty="0">
                <a:solidFill>
                  <a:srgbClr val="1F1A14"/>
                </a:solidFill>
                <a:latin typeface="Inter"/>
                <a:cs typeface="Inter"/>
              </a:rPr>
              <a:t>   0.0000</a:t>
            </a:r>
          </a:p>
        </p:txBody>
      </p:sp>
      <p:sp>
        <p:nvSpPr>
          <p:cNvPr id="21" name="Shape 21"/>
          <p:cNvSpPr/>
          <p:nvPr/>
        </p:nvSpPr>
        <p:spPr>
          <a:xfrm>
            <a:off x="4396733" y="1800000"/>
            <a:ext cx="3398533" cy="27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160000" tIns="80000" rIns="160000" bIns="80000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0E7490"/>
                </a:solidFill>
                <a:latin typeface="Inter"/>
                <a:cs typeface="Inter"/>
              </a:rPr>
              <a:t>SYSTEM ADVANTAGES</a:t>
            </a:r>
          </a:p>
          <a:p>
            <a:pPr algn="l">
              <a:spcBef>
                <a:spcPts val="260"/>
              </a:spcBef>
            </a:pPr>
            <a:r>
              <a:rPr lang="en-US" sz="1000" b="1" i="0" dirty="0">
                <a:solidFill>
                  <a:srgbClr val="C2410C"/>
                </a:solidFill>
                <a:latin typeface="Inter"/>
                <a:cs typeface="Inter"/>
              </a:rPr>
              <a:t>– 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Early detection — deviation is caught during the window, not after the breach</a:t>
            </a:r>
          </a:p>
          <a:p>
            <a:pPr algn="l">
              <a:spcBef>
                <a:spcPts val="260"/>
              </a:spcBef>
            </a:pPr>
            <a:r>
              <a:rPr lang="en-US" sz="1000" b="1" i="0" dirty="0">
                <a:solidFill>
                  <a:srgbClr val="C2410C"/>
                </a:solidFill>
                <a:latin typeface="Inter"/>
                <a:cs typeface="Inter"/>
              </a:rPr>
              <a:t>– 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Behavior-based, so it works without signature or IOC updates</a:t>
            </a:r>
          </a:p>
          <a:p>
            <a:pPr algn="l">
              <a:spcBef>
                <a:spcPts val="260"/>
              </a:spcBef>
            </a:pPr>
            <a:r>
              <a:rPr lang="en-US" sz="1000" b="1" i="0" dirty="0">
                <a:solidFill>
                  <a:srgbClr val="C2410C"/>
                </a:solidFill>
                <a:latin typeface="Inter"/>
                <a:cs typeface="Inter"/>
              </a:rPr>
              <a:t>– 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Prioritization — scores and bands replace an undifferentiated queue</a:t>
            </a:r>
          </a:p>
          <a:p>
            <a:pPr algn="l">
              <a:spcBef>
                <a:spcPts val="260"/>
              </a:spcBef>
            </a:pPr>
            <a:r>
              <a:rPr lang="en-US" sz="1000" b="1" i="0" dirty="0">
                <a:solidFill>
                  <a:srgbClr val="C2410C"/>
                </a:solidFill>
                <a:latin typeface="Inter"/>
                <a:cs typeface="Inter"/>
              </a:rPr>
              <a:t>– 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Explanations attached — every alert names its contributing factors</a:t>
            </a:r>
          </a:p>
          <a:p>
            <a:pPr algn="l">
              <a:spcBef>
                <a:spcPts val="260"/>
              </a:spcBef>
            </a:pPr>
            <a:r>
              <a:rPr lang="en-US" sz="1000" b="1" i="0" dirty="0">
                <a:solidFill>
                  <a:srgbClr val="C2410C"/>
                </a:solidFill>
                <a:latin typeface="Inter"/>
                <a:cs typeface="Inter"/>
              </a:rPr>
              <a:t>– 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Less manual analysis — rules and model agree or disagree explicitly</a:t>
            </a:r>
          </a:p>
          <a:p>
            <a:pPr algn="l">
              <a:spcBef>
                <a:spcPts val="260"/>
              </a:spcBef>
            </a:pPr>
            <a:r>
              <a:rPr lang="en-US" sz="1000" b="1" i="0" dirty="0">
                <a:solidFill>
                  <a:srgbClr val="C2410C"/>
                </a:solidFill>
                <a:latin typeface="Inter"/>
                <a:cs typeface="Inter"/>
              </a:rPr>
              <a:t>– 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Continuous — the same pipeline scores every identity, every window</a:t>
            </a:r>
          </a:p>
        </p:txBody>
      </p:sp>
      <p:sp>
        <p:nvSpPr>
          <p:cNvPr id="29" name="Shape 29"/>
          <p:cNvSpPr/>
          <p:nvPr/>
        </p:nvSpPr>
        <p:spPr>
          <a:xfrm>
            <a:off x="7955266" y="1800000"/>
            <a:ext cx="3398533" cy="276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t" lIns="0" tIns="0" rIns="0" bIns="0">
            <a:normAutofit/>
          </a:bodyPr>
          <a:lstStyle/>
          <a:p>
            <a:endParaRPr lang="en-US"/>
          </a:p>
        </p:txBody>
      </p:sp>
      <p:sp>
        <p:nvSpPr>
          <p:cNvPr id="30" name="Shape 30"/>
          <p:cNvSpPr/>
          <p:nvPr/>
        </p:nvSpPr>
        <p:spPr>
          <a:xfrm>
            <a:off x="8125266" y="1970000"/>
            <a:ext cx="3058533" cy="33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980" b="1" i="0" dirty="0">
                <a:solidFill>
                  <a:srgbClr val="1F1A14"/>
                </a:solidFill>
                <a:latin typeface="Inter"/>
                <a:cs typeface="Inter"/>
              </a:rPr>
              <a:t>Activity   </a:t>
            </a:r>
            <a:r>
              <a:rPr lang="en-US" sz="920" b="0" i="0" dirty="0">
                <a:solidFill>
                  <a:srgbClr val="63553F"/>
                </a:solidFill>
                <a:latin typeface="Inter"/>
                <a:cs typeface="Inter"/>
              </a:rPr>
              <a:t>what the user actually did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8125266" y="2300000"/>
            <a:ext cx="3058533" cy="76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" b="1" i="0" dirty="0">
                <a:solidFill>
                  <a:srgbClr val="0E7490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31" name="Shape 31"/>
          <p:cNvSpPr/>
          <p:nvPr/>
        </p:nvSpPr>
        <p:spPr>
          <a:xfrm>
            <a:off x="8125266" y="2376000"/>
            <a:ext cx="3058533" cy="33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980" b="1" i="0" dirty="0">
                <a:solidFill>
                  <a:srgbClr val="1F1A14"/>
                </a:solidFill>
                <a:latin typeface="Inter"/>
                <a:cs typeface="Inter"/>
              </a:rPr>
              <a:t>Detection   </a:t>
            </a:r>
            <a:r>
              <a:rPr lang="en-US" sz="920" b="0" i="0" dirty="0">
                <a:solidFill>
                  <a:srgbClr val="63553F"/>
                </a:solidFill>
                <a:latin typeface="Inter"/>
                <a:cs typeface="Inter"/>
              </a:rPr>
              <a:t>model + rules on behaviour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125266" y="2706000"/>
            <a:ext cx="3058533" cy="76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" b="1" i="0" dirty="0">
                <a:solidFill>
                  <a:srgbClr val="0E7490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32" name="Shape 32"/>
          <p:cNvSpPr/>
          <p:nvPr/>
        </p:nvSpPr>
        <p:spPr>
          <a:xfrm>
            <a:off x="8125266" y="2782000"/>
            <a:ext cx="3058533" cy="33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980" b="1" i="0" dirty="0">
                <a:solidFill>
                  <a:srgbClr val="1F1A14"/>
                </a:solidFill>
                <a:latin typeface="Inter"/>
                <a:cs typeface="Inter"/>
              </a:rPr>
              <a:t>Risk assessment   </a:t>
            </a:r>
            <a:r>
              <a:rPr lang="en-US" sz="920" b="0" i="0" dirty="0">
                <a:solidFill>
                  <a:srgbClr val="63553F"/>
                </a:solidFill>
                <a:latin typeface="Inter"/>
                <a:cs typeface="Inter"/>
              </a:rPr>
              <a:t>weighted 0–100 score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125266" y="3112000"/>
            <a:ext cx="3058533" cy="76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" b="1" i="0" dirty="0">
                <a:solidFill>
                  <a:srgbClr val="0E7490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33" name="Shape 33"/>
          <p:cNvSpPr/>
          <p:nvPr/>
        </p:nvSpPr>
        <p:spPr>
          <a:xfrm>
            <a:off x="8125266" y="3188000"/>
            <a:ext cx="3058533" cy="33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980" b="1" i="0" dirty="0">
                <a:solidFill>
                  <a:srgbClr val="1F1A14"/>
                </a:solidFill>
                <a:latin typeface="Inter"/>
                <a:cs typeface="Inter"/>
              </a:rPr>
              <a:t>Alert   </a:t>
            </a:r>
            <a:r>
              <a:rPr lang="en-US" sz="920" b="0" i="0" dirty="0">
                <a:solidFill>
                  <a:srgbClr val="63553F"/>
                </a:solidFill>
                <a:latin typeface="Inter"/>
                <a:cs typeface="Inter"/>
              </a:rPr>
              <a:t>severity + named factors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125266" y="3518000"/>
            <a:ext cx="3058533" cy="76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" b="1" i="0" dirty="0">
                <a:solidFill>
                  <a:srgbClr val="0E7490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34" name="Shape 34"/>
          <p:cNvSpPr/>
          <p:nvPr/>
        </p:nvSpPr>
        <p:spPr>
          <a:xfrm>
            <a:off x="8125266" y="3594000"/>
            <a:ext cx="3058533" cy="33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980" b="1" i="0" dirty="0">
                <a:solidFill>
                  <a:srgbClr val="1F1A14"/>
                </a:solidFill>
                <a:latin typeface="Inter"/>
                <a:cs typeface="Inter"/>
              </a:rPr>
              <a:t>Investigation   </a:t>
            </a:r>
            <a:r>
              <a:rPr lang="en-US" sz="920" b="0" i="0" dirty="0">
                <a:solidFill>
                  <a:srgbClr val="63553F"/>
                </a:solidFill>
                <a:latin typeface="Inter"/>
                <a:cs typeface="Inter"/>
              </a:rPr>
              <a:t>analyst case with evidence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125266" y="3924000"/>
            <a:ext cx="3058533" cy="76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200" b="1" i="0" dirty="0">
                <a:solidFill>
                  <a:srgbClr val="0E7490"/>
                </a:solidFill>
                <a:latin typeface="Inter"/>
                <a:cs typeface="Inter"/>
              </a:rPr>
              <a:t>↓</a:t>
            </a:r>
          </a:p>
        </p:txBody>
      </p:sp>
      <p:sp>
        <p:nvSpPr>
          <p:cNvPr id="35" name="Shape 35"/>
          <p:cNvSpPr/>
          <p:nvPr/>
        </p:nvSpPr>
        <p:spPr>
          <a:xfrm>
            <a:off x="8125266" y="4000000"/>
            <a:ext cx="3058533" cy="33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20000" tIns="60000" rIns="120000" bIns="60000">
            <a:normAutofit/>
          </a:bodyPr>
          <a:lstStyle/>
          <a:p>
            <a:pPr algn="l"/>
            <a:r>
              <a:rPr lang="en-US" sz="980" b="1" i="0" dirty="0">
                <a:solidFill>
                  <a:srgbClr val="1F1A14"/>
                </a:solidFill>
                <a:latin typeface="Inter"/>
                <a:cs typeface="Inter"/>
              </a:rPr>
              <a:t>Response   </a:t>
            </a:r>
            <a:r>
              <a:rPr lang="en-US" sz="920" b="0" i="0" dirty="0">
                <a:solidFill>
                  <a:srgbClr val="63553F"/>
                </a:solidFill>
                <a:latin typeface="Inter"/>
                <a:cs typeface="Inter"/>
              </a:rPr>
              <a:t>containment and remediation</a:t>
            </a:r>
          </a:p>
        </p:txBody>
      </p:sp>
      <p:sp>
        <p:nvSpPr>
          <p:cNvPr id="40" name="Shape 40"/>
          <p:cNvSpPr/>
          <p:nvPr/>
        </p:nvSpPr>
        <p:spPr>
          <a:xfrm>
            <a:off x="838200" y="4740000"/>
            <a:ext cx="10515600" cy="96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C2410C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90000" tIns="95000" rIns="190000" bIns="95000">
            <a:normAutofit/>
          </a:bodyPr>
          <a:lstStyle/>
          <a:p>
            <a:pPr algn="ctr">
              <a:lnSpc>
                <a:spcPct val="104000"/>
              </a:lnSpc>
            </a:pPr>
            <a:r>
              <a:rPr lang="en-US" sz="1080" b="1" i="0" dirty="0">
                <a:solidFill>
                  <a:srgbClr val="1F1A14"/>
                </a:solidFill>
                <a:latin typeface="Inter"/>
                <a:cs typeface="Inter"/>
              </a:rPr>
              <a:t>Where detection quality goes next: </a:t>
            </a:r>
            <a:r>
              <a:rPr lang="en-US" sz="1080" b="0" i="0" dirty="0">
                <a:solidFill>
                  <a:srgbClr val="63553F"/>
                </a:solidFill>
                <a:latin typeface="Inter"/>
                <a:cs typeface="Inter"/>
              </a:rPr>
              <a:t>the current scores come from separable synthetic data, so the honest next validation step is a labelled real corpus or injected red-team activity — then the same pipeline can be judged on precision at a fixed analyst workload.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DF8"/>
            </a:gs>
            <a:gs pos="100000">
              <a:srgbClr val="F6EDD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8792000" y="-1500000"/>
            <a:ext cx="4200000" cy="4200000"/>
          </a:xfrm>
          <a:prstGeom prst="ellipse">
            <a:avLst/>
          </a:prstGeom>
          <a:solidFill>
            <a:srgbClr val="0E7490">
              <a:alpha val="9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-1500000" y="4958000"/>
            <a:ext cx="3200000" cy="3200000"/>
          </a:xfrm>
          <a:prstGeom prst="ellipse">
            <a:avLst/>
          </a:prstGeom>
          <a:solidFill>
            <a:srgbClr val="C2410C">
              <a:alpha val="6000"/>
            </a:srgbClr>
          </a:soli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0" y="0"/>
            <a:ext cx="12192000" cy="26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9653800" y="400000"/>
            <a:ext cx="1700000" cy="9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5200" b="1" i="0" dirty="0">
                <a:solidFill>
                  <a:srgbClr val="EBDFC8"/>
                </a:solidFill>
                <a:latin typeface="Inter"/>
                <a:cs typeface="Inter"/>
              </a:rPr>
              <a:t>10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8200" y="600000"/>
            <a:ext cx="10515600" cy="25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7C6A4E"/>
                </a:solidFill>
                <a:latin typeface="Inter"/>
                <a:cs typeface="Inter"/>
              </a:rPr>
              <a:t>CONCLUSION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8200" y="860000"/>
            <a:ext cx="10515600" cy="6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2650" b="1" i="0" dirty="0">
                <a:solidFill>
                  <a:srgbClr val="1F1A14"/>
                </a:solidFill>
                <a:latin typeface="Inter"/>
                <a:cs typeface="Inter"/>
              </a:rPr>
              <a:t>Conclusion &amp; Future Scope</a:t>
            </a:r>
          </a:p>
        </p:txBody>
      </p:sp>
      <p:sp>
        <p:nvSpPr>
          <p:cNvPr id="17" name="Shape 17"/>
          <p:cNvSpPr/>
          <p:nvPr/>
        </p:nvSpPr>
        <p:spPr>
          <a:xfrm>
            <a:off x="838200" y="1530000"/>
            <a:ext cx="600000" cy="28000"/>
          </a:xfrm>
          <a:prstGeom prst="rect">
            <a:avLst/>
          </a:prstGeom>
          <a:gradFill>
            <a:gsLst>
              <a:gs pos="0">
                <a:srgbClr val="0E7490"/>
              </a:gs>
              <a:gs pos="100000">
                <a:srgbClr val="C2410C"/>
              </a:gs>
            </a:gsLst>
            <a:lin ang="0" scaled="1"/>
          </a:gradFill>
          <a:ln>
            <a:noFill/>
          </a:ln>
        </p:spPr>
        <p:txBody>
          <a:bodyPr wrap="square" rtlCol="0" anchor="t" lIns="150000" tIns="75000" rIns="150000" bIns="75000">
            <a:normAutofit/>
          </a:bodyPr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38200" y="6200000"/>
            <a:ext cx="74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Insider Threat Detection System  ·  AI-Powered Behavioral Analytics for Enterprise Security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453800" y="6200000"/>
            <a:ext cx="900000" cy="26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r"/>
            <a:r>
              <a:rPr lang="en-US" sz="850" b="0" i="0" dirty="0">
                <a:solidFill>
                  <a:srgbClr val="7C6A4E"/>
                </a:solidFill>
                <a:latin typeface="Inter"/>
                <a:cs typeface="Inter"/>
              </a:rPr>
              <a:t>10 / 10</a:t>
            </a:r>
          </a:p>
        </p:txBody>
      </p:sp>
      <p:sp>
        <p:nvSpPr>
          <p:cNvPr id="20" name="Shape 20"/>
          <p:cNvSpPr/>
          <p:nvPr/>
        </p:nvSpPr>
        <p:spPr>
          <a:xfrm>
            <a:off x="838200" y="1800000"/>
            <a:ext cx="10515600" cy="80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200000" tIns="100000" rIns="200000" bIns="100000">
            <a:normAutofit/>
          </a:bodyPr>
          <a:lstStyle/>
          <a:p>
            <a:pPr algn="ctr">
              <a:lnSpc>
                <a:spcPct val="106000"/>
              </a:lnSpc>
            </a:pPr>
            <a:r>
              <a:rPr lang="en-US" sz="1250" b="0" i="0" dirty="0">
                <a:solidFill>
                  <a:srgbClr val="63553F"/>
                </a:solidFill>
                <a:latin typeface="Inter"/>
                <a:cs typeface="Inter"/>
              </a:rPr>
              <a:t>The system analyzes user behavior, identifies abnormal activity, assigns risk levels, and helps security teams </a:t>
            </a:r>
            <a:r>
              <a:rPr lang="en-US" sz="1250" b="1" i="0" dirty="0">
                <a:solidFill>
                  <a:srgbClr val="1F1A14"/>
                </a:solidFill>
                <a:latin typeface="Inter"/>
                <a:cs typeface="Inter"/>
              </a:rPr>
              <a:t>prioritize potential insider threats</a:t>
            </a:r>
            <a:r>
              <a:rPr lang="en-US" sz="1250" b="0" i="0" dirty="0">
                <a:solidFill>
                  <a:srgbClr val="63553F"/>
                </a:solidFill>
                <a:latin typeface="Inter"/>
                <a:cs typeface="Inter"/>
              </a:rPr>
              <a:t>.</a:t>
            </a:r>
          </a:p>
        </p:txBody>
      </p:sp>
      <p:sp>
        <p:nvSpPr>
          <p:cNvPr id="21" name="Shape 21"/>
          <p:cNvSpPr/>
          <p:nvPr/>
        </p:nvSpPr>
        <p:spPr>
          <a:xfrm>
            <a:off x="838200" y="2720000"/>
            <a:ext cx="2433900" cy="70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200" b="1" i="0" dirty="0">
                <a:solidFill>
                  <a:srgbClr val="1F1A14"/>
                </a:solidFill>
                <a:latin typeface="Inter"/>
                <a:cs typeface="Inter"/>
              </a:rPr>
              <a:t>Detect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272100" y="2720000"/>
            <a:ext cx="260000" cy="7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2" name="Shape 22"/>
          <p:cNvSpPr/>
          <p:nvPr/>
        </p:nvSpPr>
        <p:spPr>
          <a:xfrm>
            <a:off x="3532100" y="2720000"/>
            <a:ext cx="2433900" cy="70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200" b="1" i="0" dirty="0">
                <a:solidFill>
                  <a:srgbClr val="1F1A14"/>
                </a:solidFill>
                <a:latin typeface="Inter"/>
                <a:cs typeface="Inter"/>
              </a:rPr>
              <a:t>Analyze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5966000" y="2720000"/>
            <a:ext cx="260000" cy="7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3" name="Shape 23"/>
          <p:cNvSpPr/>
          <p:nvPr/>
        </p:nvSpPr>
        <p:spPr>
          <a:xfrm>
            <a:off x="6226000" y="2720000"/>
            <a:ext cx="2433900" cy="70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200" b="1" i="0" dirty="0">
                <a:solidFill>
                  <a:srgbClr val="1F1A14"/>
                </a:solidFill>
                <a:latin typeface="Inter"/>
                <a:cs typeface="Inter"/>
              </a:rPr>
              <a:t>Score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8659900" y="2720000"/>
            <a:ext cx="260000" cy="7000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algn="ctr"/>
            <a:r>
              <a:rPr lang="en-US" sz="1300" b="1" i="0" dirty="0">
                <a:solidFill>
                  <a:srgbClr val="0E7490"/>
                </a:solidFill>
                <a:latin typeface="Inter"/>
                <a:cs typeface="Inter"/>
              </a:rPr>
              <a:t>→</a:t>
            </a:r>
          </a:p>
        </p:txBody>
      </p:sp>
      <p:sp>
        <p:nvSpPr>
          <p:cNvPr id="24" name="Shape 24"/>
          <p:cNvSpPr/>
          <p:nvPr/>
        </p:nvSpPr>
        <p:spPr>
          <a:xfrm>
            <a:off x="8919900" y="2720000"/>
            <a:ext cx="2433900" cy="70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0E7490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90000" tIns="45000" rIns="90000" bIns="45000">
            <a:normAutofit/>
          </a:bodyPr>
          <a:lstStyle/>
          <a:p>
            <a:pPr algn="ctr"/>
            <a:r>
              <a:rPr lang="en-US" sz="1200" b="1" i="0" dirty="0">
                <a:solidFill>
                  <a:srgbClr val="1F1A14"/>
                </a:solidFill>
                <a:latin typeface="Inter"/>
                <a:cs typeface="Inter"/>
              </a:rPr>
              <a:t>Alert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38200" y="3560000"/>
            <a:ext cx="10515600" cy="24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l"/>
            <a:r>
              <a:rPr lang="en-US" sz="950" b="1" i="0" spc="80" dirty="0">
                <a:solidFill>
                  <a:srgbClr val="7C6A4E"/>
                </a:solidFill>
                <a:latin typeface="Inter"/>
                <a:cs typeface="Inter"/>
              </a:rPr>
              <a:t>FUTURE SCOPE</a:t>
            </a:r>
          </a:p>
        </p:txBody>
      </p:sp>
      <p:sp>
        <p:nvSpPr>
          <p:cNvPr id="30" name="Shape 30"/>
          <p:cNvSpPr/>
          <p:nvPr/>
        </p:nvSpPr>
        <p:spPr>
          <a:xfrm>
            <a:off x="838200" y="3820000"/>
            <a:ext cx="3405200" cy="37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ctr"/>
            <a:r>
              <a:rPr lang="en-US" sz="1000" b="1" i="0" dirty="0">
                <a:solidFill>
                  <a:srgbClr val="63553F"/>
                </a:solidFill>
                <a:latin typeface="Inter"/>
                <a:cs typeface="Inter"/>
              </a:rPr>
              <a:t>Real-time activity streaming</a:t>
            </a:r>
          </a:p>
        </p:txBody>
      </p:sp>
      <p:sp>
        <p:nvSpPr>
          <p:cNvPr id="31" name="Shape 31"/>
          <p:cNvSpPr/>
          <p:nvPr/>
        </p:nvSpPr>
        <p:spPr>
          <a:xfrm>
            <a:off x="4393400" y="3820000"/>
            <a:ext cx="3405200" cy="37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ctr"/>
            <a:r>
              <a:rPr lang="en-US" sz="1000" b="1" i="0" dirty="0">
                <a:solidFill>
                  <a:srgbClr val="63553F"/>
                </a:solidFill>
                <a:latin typeface="Inter"/>
                <a:cs typeface="Inter"/>
              </a:rPr>
              <a:t>SIEM integration</a:t>
            </a:r>
          </a:p>
        </p:txBody>
      </p:sp>
      <p:sp>
        <p:nvSpPr>
          <p:cNvPr id="32" name="Shape 32"/>
          <p:cNvSpPr/>
          <p:nvPr/>
        </p:nvSpPr>
        <p:spPr>
          <a:xfrm>
            <a:off x="7948600" y="3820000"/>
            <a:ext cx="3405200" cy="37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ctr"/>
            <a:r>
              <a:rPr lang="en-US" sz="1000" b="1" i="0" dirty="0">
                <a:solidFill>
                  <a:srgbClr val="63553F"/>
                </a:solidFill>
                <a:latin typeface="Inter"/>
                <a:cs typeface="Inter"/>
              </a:rPr>
              <a:t>Explainable AI</a:t>
            </a:r>
          </a:p>
        </p:txBody>
      </p:sp>
      <p:sp>
        <p:nvSpPr>
          <p:cNvPr id="33" name="Shape 33"/>
          <p:cNvSpPr/>
          <p:nvPr/>
        </p:nvSpPr>
        <p:spPr>
          <a:xfrm>
            <a:off x="838200" y="4240000"/>
            <a:ext cx="3405200" cy="37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ctr"/>
            <a:r>
              <a:rPr lang="en-US" sz="1000" b="1" i="0" dirty="0">
                <a:solidFill>
                  <a:srgbClr val="63553F"/>
                </a:solidFill>
                <a:latin typeface="Inter"/>
                <a:cs typeface="Inter"/>
              </a:rPr>
              <a:t>User behaviour profiling</a:t>
            </a:r>
          </a:p>
        </p:txBody>
      </p:sp>
      <p:sp>
        <p:nvSpPr>
          <p:cNvPr id="34" name="Shape 34"/>
          <p:cNvSpPr/>
          <p:nvPr/>
        </p:nvSpPr>
        <p:spPr>
          <a:xfrm>
            <a:off x="4393400" y="4240000"/>
            <a:ext cx="3405200" cy="37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ctr"/>
            <a:r>
              <a:rPr lang="en-US" sz="1000" b="1" i="0" dirty="0">
                <a:solidFill>
                  <a:srgbClr val="63553F"/>
                </a:solidFill>
                <a:latin typeface="Inter"/>
                <a:cs typeface="Inter"/>
              </a:rPr>
              <a:t>Automated incident response</a:t>
            </a:r>
          </a:p>
        </p:txBody>
      </p:sp>
      <p:sp>
        <p:nvSpPr>
          <p:cNvPr id="35" name="Shape 35"/>
          <p:cNvSpPr/>
          <p:nvPr/>
        </p:nvSpPr>
        <p:spPr>
          <a:xfrm>
            <a:off x="7948600" y="4240000"/>
            <a:ext cx="3405200" cy="37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ctr"/>
            <a:r>
              <a:rPr lang="en-US" sz="1000" b="1" i="0" dirty="0">
                <a:solidFill>
                  <a:srgbClr val="63553F"/>
                </a:solidFill>
                <a:latin typeface="Inter"/>
                <a:cs typeface="Inter"/>
              </a:rPr>
              <a:t>Graph-based behavioural analysis</a:t>
            </a:r>
          </a:p>
        </p:txBody>
      </p:sp>
      <p:sp>
        <p:nvSpPr>
          <p:cNvPr id="36" name="Shape 36"/>
          <p:cNvSpPr/>
          <p:nvPr/>
        </p:nvSpPr>
        <p:spPr>
          <a:xfrm>
            <a:off x="838200" y="4660000"/>
            <a:ext cx="3405200" cy="37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ctr"/>
            <a:r>
              <a:rPr lang="en-US" sz="1000" b="1" i="0" dirty="0">
                <a:solidFill>
                  <a:srgbClr val="63553F"/>
                </a:solidFill>
                <a:latin typeface="Inter"/>
                <a:cs typeface="Inter"/>
              </a:rPr>
              <a:t>Continuous model retraining</a:t>
            </a:r>
          </a:p>
        </p:txBody>
      </p:sp>
      <p:sp>
        <p:nvSpPr>
          <p:cNvPr id="37" name="Shape 37"/>
          <p:cNvSpPr/>
          <p:nvPr/>
        </p:nvSpPr>
        <p:spPr>
          <a:xfrm>
            <a:off x="4393400" y="4660000"/>
            <a:ext cx="3405200" cy="37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ctr"/>
            <a:r>
              <a:rPr lang="en-US" sz="1000" b="1" i="0" dirty="0">
                <a:solidFill>
                  <a:srgbClr val="63553F"/>
                </a:solidFill>
                <a:latin typeface="Inter"/>
                <a:cs typeface="Inter"/>
              </a:rPr>
              <a:t>Security-team notifications</a:t>
            </a:r>
          </a:p>
        </p:txBody>
      </p:sp>
      <p:sp>
        <p:nvSpPr>
          <p:cNvPr id="38" name="Shape 38"/>
          <p:cNvSpPr/>
          <p:nvPr/>
        </p:nvSpPr>
        <p:spPr>
          <a:xfrm>
            <a:off x="7948600" y="4660000"/>
            <a:ext cx="3405200" cy="370000"/>
          </a:xfrm>
          <a:prstGeom prst="roundRect">
            <a:avLst/>
          </a:prstGeom>
          <a:solidFill>
            <a:srgbClr val="FBF4E4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10000" tIns="55000" rIns="110000" bIns="55000">
            <a:normAutofit/>
          </a:bodyPr>
          <a:lstStyle/>
          <a:p>
            <a:pPr algn="ctr"/>
            <a:r>
              <a:rPr lang="en-US" sz="1000" b="1" i="0" dirty="0">
                <a:solidFill>
                  <a:srgbClr val="63553F"/>
                </a:solidFill>
                <a:latin typeface="Inter"/>
                <a:cs typeface="Inter"/>
              </a:rPr>
              <a:t>Zero-trust integration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838200" y="5110000"/>
            <a:ext cx="10515600" cy="400000"/>
          </a:xfrm>
          <a:prstGeom prst="rect">
            <a:avLst/>
          </a:prstGeom>
          <a:noFill/>
        </p:spPr>
        <p:txBody>
          <a:bodyPr wrap="square" rtlCol="0" anchor="t">
            <a:normAutofit/>
          </a:bodyPr>
          <a:lstStyle/>
          <a:p>
            <a:pPr algn="ctr"/>
            <a:r>
              <a:rPr lang="en-US" sz="1900" b="1" i="1" dirty="0">
                <a:solidFill>
                  <a:srgbClr val="0E7490"/>
                </a:solidFill>
                <a:latin typeface="Inter"/>
                <a:cs typeface="Inter"/>
              </a:rPr>
              <a:t>From monitoring activity to understanding behavior.</a:t>
            </a:r>
          </a:p>
        </p:txBody>
      </p:sp>
      <p:sp>
        <p:nvSpPr>
          <p:cNvPr id="41" name="Shape 41"/>
          <p:cNvSpPr/>
          <p:nvPr/>
        </p:nvSpPr>
        <p:spPr>
          <a:xfrm>
            <a:off x="838200" y="5550000"/>
            <a:ext cx="10515600" cy="420000"/>
          </a:xfrm>
          <a:prstGeom prst="roundRect">
            <a:avLst/>
          </a:prstGeom>
          <a:solidFill>
            <a:srgbClr val="FDF8EC"/>
          </a:solidFill>
          <a:ln w="9525">
            <a:solidFill>
              <a:srgbClr val="E8DDC8"/>
            </a:solidFill>
          </a:ln>
          <a:effectLst>
            <a:outerShdw blurRad="120000" dist="26000" dir="5400000" rotWithShape="0">
              <a:srgbClr val="8A7350">
                <a:alpha val="16000"/>
              </a:srgbClr>
            </a:outerShdw>
          </a:effectLst>
        </p:spPr>
        <p:txBody>
          <a:bodyPr wrap="square" rtlCol="0" anchor="ctr" lIns="150000" tIns="75000" rIns="150000" bIns="75000">
            <a:normAutofit/>
          </a:bodyPr>
          <a:lstStyle/>
          <a:p>
            <a:pPr algn="ctr"/>
            <a:r>
              <a:rPr lang="en-US" sz="1150" b="1" i="0" dirty="0">
                <a:solidFill>
                  <a:srgbClr val="1F1A14"/>
                </a:solidFill>
                <a:latin typeface="Inter"/>
                <a:cs typeface="Inter"/>
              </a:rPr>
              <a:t>Thank you      </a:t>
            </a:r>
            <a:r>
              <a:rPr lang="en-US" sz="1000" b="0" i="0" dirty="0">
                <a:solidFill>
                  <a:srgbClr val="63553F"/>
                </a:solidFill>
                <a:latin typeface="Inter"/>
                <a:cs typeface="Inter"/>
              </a:rPr>
              <a:t>Team: [ Team Name ]  ·  [ Member 1 · Member 2 · Member 3 ]      </a:t>
            </a:r>
            <a:r>
              <a:rPr lang="en-US" sz="1000" b="0" i="0" dirty="0">
                <a:solidFill>
                  <a:srgbClr val="7C6A4E"/>
                </a:solidFill>
                <a:latin typeface="Inter"/>
                <a:cs typeface="Inter"/>
              </a:rPr>
              <a:t>[ Department ]  ·  [ Institution ]  ·  [ team@institution.edu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ntinel">
  <a:themeElements>
    <a:clrScheme name="Sentinel">
      <a:dk1>
        <a:srgbClr val="1F1A14"/>
      </a:dk1>
      <a:lt1>
        <a:srgbClr val="FFFFFF"/>
      </a:lt1>
      <a:dk2>
        <a:srgbClr val="63553F"/>
      </a:dk2>
      <a:lt2>
        <a:srgbClr val="F6EDDD"/>
      </a:lt2>
      <a:accent1>
        <a:srgbClr val="0E7490"/>
      </a:accent1>
      <a:accent2>
        <a:srgbClr val="C2410C"/>
      </a:accent2>
      <a:accent3>
        <a:srgbClr val="8A5406"/>
      </a:accent3>
      <a:accent4>
        <a:srgbClr val="9F1239"/>
      </a:accent4>
      <a:accent5>
        <a:srgbClr val="166534"/>
      </a:accent5>
      <a:accent6>
        <a:srgbClr val="7C6A4E"/>
      </a:accent6>
      <a:hlink>
        <a:srgbClr val="0E7490"/>
      </a:hlink>
      <a:folHlink>
        <a:srgbClr val="63553F"/>
      </a:folHlink>
    </a:clrScheme>
    <a:fontScheme name="Sentinel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Sentine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  <a:ln w="381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10</Slides>
  <Company>Insider Threat Detection System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Insider Threat Detection System</dc:title>
  <dc:subject>AI-Powered Behavioral Analytics for Enterprise Security</dc:subject>
  <dc:creator>Insider Threat Detection System</dc:creator>
  <cp:lastModifiedBy>Insider Threat Detection System</cp:lastModifiedBy>
</cp:coreProperties>
</file>